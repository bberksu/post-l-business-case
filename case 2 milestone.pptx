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93" r:id="rId2"/>
    <p:sldId id="257" r:id="rId3"/>
    <p:sldId id="258" r:id="rId4"/>
    <p:sldId id="259" r:id="rId5"/>
    <p:sldId id="260" r:id="rId6"/>
    <p:sldId id="291" r:id="rId7"/>
    <p:sldId id="292" r:id="rId8"/>
    <p:sldId id="288" r:id="rId9"/>
    <p:sldId id="262" r:id="rId10"/>
    <p:sldId id="263" r:id="rId11"/>
    <p:sldId id="285" r:id="rId12"/>
    <p:sldId id="286" r:id="rId13"/>
    <p:sldId id="284" r:id="rId14"/>
    <p:sldId id="273" r:id="rId15"/>
    <p:sldId id="274" r:id="rId16"/>
    <p:sldId id="275" r:id="rId17"/>
    <p:sldId id="276" r:id="rId18"/>
    <p:sldId id="277" r:id="rId19"/>
    <p:sldId id="267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8D210-2801-FB93-DA64-91D185CC8D82}" v="702" dt="2026-05-25T22:24:25.328"/>
    <p1510:client id="{332DDD52-546E-5F48-97F8-7E7E3D097394}" v="251" dt="2026-05-26T00:17:42.790"/>
    <p1510:client id="{6861CC37-568F-A74F-A95A-B90E99816667}" v="101" dt="2026-05-25T17:29:56.583"/>
    <p1510:client id="{7C35D18B-02C9-4373-CAB5-19F473219F81}" v="17" dt="2026-05-25T17:14:17.118"/>
    <p1510:client id="{92C85734-90C3-40F4-BE86-BCAA07720AA9}" v="259" dt="2026-05-25T16:55:28.672"/>
    <p1510:client id="{E39FAB30-DE03-C628-AE3F-FDD952857422}" v="23" dt="2026-05-25T18:19:15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86"/>
    <p:restoredTop sz="94683"/>
  </p:normalViewPr>
  <p:slideViewPr>
    <p:cSldViewPr snapToGrid="0">
      <p:cViewPr>
        <p:scale>
          <a:sx n="81" d="100"/>
          <a:sy n="81" d="100"/>
        </p:scale>
        <p:origin x="130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FCBD6-F281-C8A7-9BF6-98B73DA7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66281-E1E2-1B76-A38D-79296B75D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F9221-F61B-F520-FE67-54A5B42E2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7F7A2-F86E-57AB-63E6-21A421B0E14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864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47FF-FCD4-769B-8626-7A22D68C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523B7-C417-BA22-9088-1C165EB59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55919-5720-BA8E-4954-CFA3A1669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DE154-5488-6ADB-99CF-5DC766E80D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2793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D1B7E-6D6B-C518-9817-523F13C0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D059C-704E-5F58-3BED-B34110A86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0EB4E-CBA3-8AFF-9B88-AA4AE345F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897FE-C509-CA27-8230-1380875F868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8319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30B4-F1A4-8896-6823-7A17C6512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6F63A-0DD4-7A6A-B4BA-750898B67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7FC2E-6779-1B79-0780-3FBAF651A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7E51F-D42A-C435-D0BF-8C1C0E9657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7783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422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Post-Corona Post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0352" y="106070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EDA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530352" y="16276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Maastricht Parcel Network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Demand, service point usage, geography, demographics, distance, and early cost/capacity pressure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30352" y="3328416"/>
            <a:ext cx="2331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530352" y="3328416"/>
            <a:ext cx="64008" cy="1874520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786384" y="3584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86384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parcel movements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6384" y="4462272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482k home deliveries and 869k pickups in 2025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3328416"/>
            <a:ext cx="2331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3063240" y="3328416"/>
            <a:ext cx="64008" cy="1874520"/>
          </a:xfrm>
          <a:prstGeom prst="rect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3319272" y="3584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64.3%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319272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share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19272" y="4462272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Pickups dominate total demand; delivery share is 35.7%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96128" y="3328416"/>
            <a:ext cx="2331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5596128" y="3328416"/>
            <a:ext cx="64008" cy="1874520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5852160" y="3584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5852160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points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52160" y="4462272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 are matched to CBS demand squares and distance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687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flow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98448" y="565099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→ geography → distance → pickup/delivery split → capacity pressure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47888" y="566928"/>
            <a:ext cx="3429000" cy="5705856"/>
          </a:xfrm>
          <a:prstGeom prst="roundRect">
            <a:avLst>
              <a:gd name="adj" fmla="val 1600"/>
            </a:avLst>
          </a:prstGeom>
          <a:solidFill>
            <a:srgbClr val="151F31"/>
          </a:solidFill>
          <a:ln w="12700">
            <a:solidFill>
              <a:srgbClr val="151F3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8531352" y="896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EDA question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31352" y="1417320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parcel demand occur,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it served today,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where do distance or capacity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pressures appear?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8531352" y="3429000"/>
            <a:ext cx="1143000" cy="36576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8531352" y="373075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“Maastricht 2025” workbook: daily activity, service point locations, CBS squares, nodes, and road network edges.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531352" y="5230368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223047">
              <a:alpha val="92000"/>
            </a:srgbClr>
          </a:solidFill>
          <a:ln w="12700">
            <a:solidFill>
              <a:srgbClr val="2230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8759952" y="54132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EDA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ase">
            <a:extLst>
              <a:ext uri="{FF2B5EF4-FFF2-40B4-BE49-F238E27FC236}">
                <a16:creationId xmlns:a16="http://schemas.microsoft.com/office/drawing/2014/main" id="{B542369D-E292-4AB5-97B5-F15C798ACA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0EF38F90-64DD-4B75-826C-E0B9BFC06C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71683A2-C0D2-491C-BB3A-E9CE39433DF8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dirty="0"/>
              <a:t>EDA </a:t>
            </a:r>
            <a:r>
              <a:rPr lang="en-US" dirty="0"/>
              <a:t>based on:</a:t>
            </a:r>
            <a:endParaRPr dirty="0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DB99FD9-5B40-406A-A694-4EFB14043A31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Separate workstreams, one connected modelling pipeline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76C32C-0765-4D1B-865D-AA6C68A6AB63}"/>
              </a:ext>
            </a:extLst>
          </p:cNvPr>
          <p:cNvSpPr>
            <a:spLocks noGrp="1"/>
          </p:cNvSpPr>
          <p:nvPr/>
        </p:nvSpPr>
        <p:spPr>
          <a:xfrm>
            <a:off x="514350" y="1367790"/>
            <a:ext cx="3606800" cy="2068830"/>
          </a:xfrm>
          <a:prstGeom prst="roundRect">
            <a:avLst>
              <a:gd name="adj" fmla="val 3683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D4EE62-84CA-48AF-BAE8-DB8FB3AE6F66}"/>
              </a:ext>
            </a:extLst>
          </p:cNvPr>
          <p:cNvSpPr>
            <a:spLocks noGrp="1"/>
          </p:cNvSpPr>
          <p:nvPr/>
        </p:nvSpPr>
        <p:spPr>
          <a:xfrm>
            <a:off x="704850" y="156210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DE7F5D-6706-4DE9-9D7C-7E796BE97760}"/>
              </a:ext>
            </a:extLst>
          </p:cNvPr>
          <p:cNvSpPr>
            <a:spLocks noGrp="1"/>
          </p:cNvSpPr>
          <p:nvPr/>
        </p:nvSpPr>
        <p:spPr>
          <a:xfrm>
            <a:off x="1143000" y="1562100"/>
            <a:ext cx="2781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2033"/>
                </a:solidFill>
              </a:defRPr>
            </a:pPr>
            <a:r>
              <a:t>Daily demand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1BF37E-79ED-4C3B-B866-640B2C4E7373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3219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173"/>
                </a:solidFill>
              </a:defRPr>
            </a:pPr>
            <a:r>
              <a:t>Time trends and weekday patterns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2A23DD-3794-4F8C-A52D-679261009748}"/>
              </a:ext>
            </a:extLst>
          </p:cNvPr>
          <p:cNvSpPr>
            <a:spLocks noGrp="1"/>
          </p:cNvSpPr>
          <p:nvPr/>
        </p:nvSpPr>
        <p:spPr>
          <a:xfrm>
            <a:off x="4292600" y="1367790"/>
            <a:ext cx="3606800" cy="2068830"/>
          </a:xfrm>
          <a:prstGeom prst="roundRect">
            <a:avLst>
              <a:gd name="adj" fmla="val 3683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E249D3-B2BA-4626-8910-E4DB72E9B1B0}"/>
              </a:ext>
            </a:extLst>
          </p:cNvPr>
          <p:cNvSpPr>
            <a:spLocks noGrp="1"/>
          </p:cNvSpPr>
          <p:nvPr/>
        </p:nvSpPr>
        <p:spPr>
          <a:xfrm>
            <a:off x="4476750" y="156210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3628B8-9E58-4141-8B8D-2D33D62F237A}"/>
              </a:ext>
            </a:extLst>
          </p:cNvPr>
          <p:cNvSpPr>
            <a:spLocks noGrp="1"/>
          </p:cNvSpPr>
          <p:nvPr/>
        </p:nvSpPr>
        <p:spPr>
          <a:xfrm>
            <a:off x="4914900" y="1562100"/>
            <a:ext cx="2781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2033"/>
                </a:solidFill>
              </a:defRPr>
            </a:pPr>
            <a:r>
              <a:t>Service point activity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B4407B-947E-47C6-96EE-B42449A96B7B}"/>
              </a:ext>
            </a:extLst>
          </p:cNvPr>
          <p:cNvSpPr>
            <a:spLocks noGrp="1"/>
          </p:cNvSpPr>
          <p:nvPr/>
        </p:nvSpPr>
        <p:spPr>
          <a:xfrm>
            <a:off x="4476750" y="1924050"/>
            <a:ext cx="3219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173"/>
                </a:solidFill>
              </a:defRPr>
            </a:pPr>
            <a:r>
              <a:t>Ranking and pickup/delivery ratios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6B77DC8-5633-4B45-8BE2-CEDDAB507235}"/>
              </a:ext>
            </a:extLst>
          </p:cNvPr>
          <p:cNvSpPr>
            <a:spLocks noGrp="1"/>
          </p:cNvSpPr>
          <p:nvPr/>
        </p:nvSpPr>
        <p:spPr>
          <a:xfrm>
            <a:off x="8070850" y="1367790"/>
            <a:ext cx="3606800" cy="2068830"/>
          </a:xfrm>
          <a:prstGeom prst="roundRect">
            <a:avLst>
              <a:gd name="adj" fmla="val 3683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22AF87-622B-4510-83B1-5A0ABE7D6295}"/>
              </a:ext>
            </a:extLst>
          </p:cNvPr>
          <p:cNvSpPr>
            <a:spLocks noGrp="1"/>
          </p:cNvSpPr>
          <p:nvPr/>
        </p:nvSpPr>
        <p:spPr>
          <a:xfrm>
            <a:off x="8267700" y="156210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58F19B-B4EA-4B5C-9E93-F47C72D5D9FE}"/>
              </a:ext>
            </a:extLst>
          </p:cNvPr>
          <p:cNvSpPr>
            <a:spLocks noGrp="1"/>
          </p:cNvSpPr>
          <p:nvPr/>
        </p:nvSpPr>
        <p:spPr>
          <a:xfrm>
            <a:off x="8705850" y="1562100"/>
            <a:ext cx="2781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2033"/>
                </a:solidFill>
              </a:defRPr>
            </a:pPr>
            <a:r>
              <a:t>Geography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8F0307-8A5F-4075-8B0A-21E5E9A9B991}"/>
              </a:ext>
            </a:extLst>
          </p:cNvPr>
          <p:cNvSpPr>
            <a:spLocks noGrp="1"/>
          </p:cNvSpPr>
          <p:nvPr/>
        </p:nvSpPr>
        <p:spPr>
          <a:xfrm>
            <a:off x="8267700" y="1924050"/>
            <a:ext cx="3219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173"/>
                </a:solidFill>
              </a:defRPr>
            </a:pPr>
            <a:r>
              <a:t>Service point map and underserved areas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97659E5-EE8A-4707-8769-30B737883A4F}"/>
              </a:ext>
            </a:extLst>
          </p:cNvPr>
          <p:cNvSpPr>
            <a:spLocks noGrp="1"/>
          </p:cNvSpPr>
          <p:nvPr/>
        </p:nvSpPr>
        <p:spPr>
          <a:xfrm>
            <a:off x="514350" y="3608070"/>
            <a:ext cx="3606800" cy="2068830"/>
          </a:xfrm>
          <a:prstGeom prst="roundRect">
            <a:avLst>
              <a:gd name="adj" fmla="val 3683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262CBA-F1A9-40AC-BF62-997394871BA1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471C38-E448-4769-AE53-C39402173005}"/>
              </a:ext>
            </a:extLst>
          </p:cNvPr>
          <p:cNvSpPr>
            <a:spLocks noGrp="1"/>
          </p:cNvSpPr>
          <p:nvPr/>
        </p:nvSpPr>
        <p:spPr>
          <a:xfrm>
            <a:off x="1143000" y="3790950"/>
            <a:ext cx="2781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2033"/>
                </a:solidFill>
              </a:defRPr>
            </a:pPr>
            <a:r>
              <a:t>CBS demographics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6CD0C5-84E9-40FD-B291-5732B3FC7A4E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3219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173"/>
                </a:solidFill>
              </a:defRPr>
            </a:pPr>
            <a:r>
              <a:t>Demand potential and missing values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20127CB-2FAA-4DAE-88B5-7831A171B344}"/>
              </a:ext>
            </a:extLst>
          </p:cNvPr>
          <p:cNvSpPr>
            <a:spLocks noGrp="1"/>
          </p:cNvSpPr>
          <p:nvPr/>
        </p:nvSpPr>
        <p:spPr>
          <a:xfrm>
            <a:off x="4292600" y="3608070"/>
            <a:ext cx="3606800" cy="2068830"/>
          </a:xfrm>
          <a:prstGeom prst="roundRect">
            <a:avLst>
              <a:gd name="adj" fmla="val 3683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536D84-F2F6-4F2A-AFDA-C144C2A8524C}"/>
              </a:ext>
            </a:extLst>
          </p:cNvPr>
          <p:cNvSpPr>
            <a:spLocks noGrp="1"/>
          </p:cNvSpPr>
          <p:nvPr/>
        </p:nvSpPr>
        <p:spPr>
          <a:xfrm>
            <a:off x="4476750" y="379095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CFDB5F-8851-476D-87DD-56A3FA3BC993}"/>
              </a:ext>
            </a:extLst>
          </p:cNvPr>
          <p:cNvSpPr>
            <a:spLocks noGrp="1"/>
          </p:cNvSpPr>
          <p:nvPr/>
        </p:nvSpPr>
        <p:spPr>
          <a:xfrm>
            <a:off x="4914900" y="3790950"/>
            <a:ext cx="2781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2033"/>
                </a:solidFill>
              </a:defRPr>
            </a:pPr>
            <a:r>
              <a:t>Road network distance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F007EB-D141-4EE7-B95F-C7F1D2724ECF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219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173"/>
                </a:solidFill>
              </a:defRPr>
            </a:pPr>
            <a:r>
              <a:t>Nearest service point and accessibility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904E699-64CD-4693-9870-6942FC742DF2}"/>
              </a:ext>
            </a:extLst>
          </p:cNvPr>
          <p:cNvSpPr>
            <a:spLocks noGrp="1"/>
          </p:cNvSpPr>
          <p:nvPr/>
        </p:nvSpPr>
        <p:spPr>
          <a:xfrm>
            <a:off x="8070850" y="3608070"/>
            <a:ext cx="3606800" cy="2068830"/>
          </a:xfrm>
          <a:prstGeom prst="roundRect">
            <a:avLst>
              <a:gd name="adj" fmla="val 3683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92F94E-3DD3-41E5-8AF2-D30E24311DF1}"/>
              </a:ext>
            </a:extLst>
          </p:cNvPr>
          <p:cNvSpPr>
            <a:spLocks noGrp="1"/>
          </p:cNvSpPr>
          <p:nvPr/>
        </p:nvSpPr>
        <p:spPr>
          <a:xfrm>
            <a:off x="8267700" y="379095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7AB629-57C8-495F-9A1C-C40F2DD47A9B}"/>
              </a:ext>
            </a:extLst>
          </p:cNvPr>
          <p:cNvSpPr>
            <a:spLocks noGrp="1"/>
          </p:cNvSpPr>
          <p:nvPr/>
        </p:nvSpPr>
        <p:spPr>
          <a:xfrm>
            <a:off x="8705850" y="3790950"/>
            <a:ext cx="2781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72033"/>
                </a:solidFill>
              </a:defRPr>
            </a:pPr>
            <a:r>
              <a:t>Cost/capacity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C6DA94-32B8-4F02-A819-44C016080C6F}"/>
              </a:ext>
            </a:extLst>
          </p:cNvPr>
          <p:cNvSpPr>
            <a:spLocks noGrp="1"/>
          </p:cNvSpPr>
          <p:nvPr/>
        </p:nvSpPr>
        <p:spPr>
          <a:xfrm>
            <a:off x="8267700" y="4171950"/>
            <a:ext cx="3219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526173"/>
                </a:solidFill>
              </a:defRPr>
            </a:pPr>
            <a:r>
              <a:t>Cost estimate and bounce-risk indicators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F4AB700-DB39-4EDC-87A0-45A77AA2A6B1}"/>
              </a:ext>
            </a:extLst>
          </p:cNvPr>
          <p:cNvSpPr>
            <a:spLocks noGrp="1"/>
          </p:cNvSpPr>
          <p:nvPr/>
        </p:nvSpPr>
        <p:spPr>
          <a:xfrm>
            <a:off x="514350" y="5848350"/>
            <a:ext cx="11163300" cy="609600"/>
          </a:xfrm>
          <a:prstGeom prst="roundRect">
            <a:avLst>
              <a:gd name="adj" fmla="val 12500"/>
            </a:avLst>
          </a:prstGeom>
          <a:solidFill>
            <a:srgbClr val="EFF6FF"/>
          </a:solidFill>
        </p:spPr>
        <p:txBody>
          <a:bodyPr/>
          <a:lstStyle/>
          <a:p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C341FA-8D0D-4570-AF83-BBD0B2788346}"/>
              </a:ext>
            </a:extLst>
          </p:cNvPr>
          <p:cNvSpPr>
            <a:spLocks noGrp="1"/>
          </p:cNvSpPr>
          <p:nvPr/>
        </p:nvSpPr>
        <p:spPr>
          <a:xfrm>
            <a:off x="723900" y="5981700"/>
            <a:ext cx="10744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43B53"/>
                </a:solidFill>
              </a:defRPr>
            </a:pPr>
            <a:r>
              <a:t>Combined EDA flow: demand -&gt; geography -&gt; distance -&gt; pickup/delivery split -&gt; cost/capacity -&gt; optimization</a:t>
            </a:r>
          </a:p>
        </p:txBody>
      </p:sp>
    </p:spTree>
    <p:extLst>
      <p:ext uri="{BB962C8B-B14F-4D97-AF65-F5344CB8AC3E}">
        <p14:creationId xmlns:p14="http://schemas.microsoft.com/office/powerpoint/2010/main" val="91820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ase">
            <a:extLst>
              <a:ext uri="{FF2B5EF4-FFF2-40B4-BE49-F238E27FC236}">
                <a16:creationId xmlns:a16="http://schemas.microsoft.com/office/drawing/2014/main" id="{5F5DA019-9FBF-4A08-996A-BEF873CD7F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9CEE0986-AC60-4CBE-BD20-37D73C58DA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20D5799-6DA2-44A5-A83F-4DCA8DF58FA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t>1. Maastricht generates high, pickup-heavy parcel demand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C4781EFA-0CC4-46A4-B485-2EF763B34ABD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Demand baseline from observed 2025 Daily Activity</a:t>
            </a:r>
          </a:p>
        </p:txBody>
      </p:sp>
      <p:sp>
        <p:nvSpPr>
          <p:cNvPr id="5" name="kpi-Total demand">
            <a:extLst>
              <a:ext uri="{FF2B5EF4-FFF2-40B4-BE49-F238E27FC236}">
                <a16:creationId xmlns:a16="http://schemas.microsoft.com/office/drawing/2014/main" id="{95BC99F1-E39A-47E2-AAE9-BB2146279ECA}"/>
              </a:ext>
            </a:extLst>
          </p:cNvPr>
          <p:cNvSpPr>
            <a:spLocks noGrp="1"/>
          </p:cNvSpPr>
          <p:nvPr/>
        </p:nvSpPr>
        <p:spPr>
          <a:xfrm>
            <a:off x="514350" y="1870710"/>
            <a:ext cx="2690813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265D0C-29C2-421D-AFE7-EEB76667073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343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Total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C289FB-3A09-4E42-B831-B6795DC3C994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2343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t>1,351,852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E3CEA4-E7DC-421F-A305-37FBFDA0BEC7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23431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parcels in 2025</a:t>
            </a:r>
          </a:p>
        </p:txBody>
      </p:sp>
      <p:sp>
        <p:nvSpPr>
          <p:cNvPr id="9" name="kpi-Deliveries">
            <a:extLst>
              <a:ext uri="{FF2B5EF4-FFF2-40B4-BE49-F238E27FC236}">
                <a16:creationId xmlns:a16="http://schemas.microsoft.com/office/drawing/2014/main" id="{0EC4877D-47ED-4B01-86C0-77D87B7D1526}"/>
              </a:ext>
            </a:extLst>
          </p:cNvPr>
          <p:cNvSpPr>
            <a:spLocks noGrp="1"/>
          </p:cNvSpPr>
          <p:nvPr/>
        </p:nvSpPr>
        <p:spPr>
          <a:xfrm>
            <a:off x="3338513" y="1870710"/>
            <a:ext cx="2690813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86B935-CC66-426C-AE56-9C7E5E546181}"/>
              </a:ext>
            </a:extLst>
          </p:cNvPr>
          <p:cNvSpPr>
            <a:spLocks noGrp="1"/>
          </p:cNvSpPr>
          <p:nvPr/>
        </p:nvSpPr>
        <p:spPr>
          <a:xfrm>
            <a:off x="3505200" y="2000250"/>
            <a:ext cx="2343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Deliveries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862C15-82CB-488E-953B-35C68D975C6C}"/>
              </a:ext>
            </a:extLst>
          </p:cNvPr>
          <p:cNvSpPr>
            <a:spLocks noGrp="1"/>
          </p:cNvSpPr>
          <p:nvPr/>
        </p:nvSpPr>
        <p:spPr>
          <a:xfrm>
            <a:off x="3505200" y="2228850"/>
            <a:ext cx="2343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315E9C"/>
                </a:solidFill>
                <a:latin typeface="Aptos Display"/>
                <a:ea typeface="Aptos Display"/>
                <a:cs typeface="Aptos Display"/>
              </a:defRPr>
            </a:pPr>
            <a:r>
              <a:t>482,442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44116-2723-4583-B12E-F67D0DE9BE0B}"/>
              </a:ext>
            </a:extLst>
          </p:cNvPr>
          <p:cNvSpPr>
            <a:spLocks noGrp="1"/>
          </p:cNvSpPr>
          <p:nvPr/>
        </p:nvSpPr>
        <p:spPr>
          <a:xfrm>
            <a:off x="3505200" y="2628900"/>
            <a:ext cx="23431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35.7% of activity</a:t>
            </a:r>
          </a:p>
        </p:txBody>
      </p:sp>
      <p:sp>
        <p:nvSpPr>
          <p:cNvPr id="13" name="kpi-Pickups">
            <a:extLst>
              <a:ext uri="{FF2B5EF4-FFF2-40B4-BE49-F238E27FC236}">
                <a16:creationId xmlns:a16="http://schemas.microsoft.com/office/drawing/2014/main" id="{FDD66DDD-D77F-40F5-88B4-53151BB45EB0}"/>
              </a:ext>
            </a:extLst>
          </p:cNvPr>
          <p:cNvSpPr>
            <a:spLocks noGrp="1"/>
          </p:cNvSpPr>
          <p:nvPr/>
        </p:nvSpPr>
        <p:spPr>
          <a:xfrm>
            <a:off x="6162675" y="1870710"/>
            <a:ext cx="2690813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B4122B-8B4D-4575-A6B3-4168EFA53B62}"/>
              </a:ext>
            </a:extLst>
          </p:cNvPr>
          <p:cNvSpPr>
            <a:spLocks noGrp="1"/>
          </p:cNvSpPr>
          <p:nvPr/>
        </p:nvSpPr>
        <p:spPr>
          <a:xfrm>
            <a:off x="6343650" y="2000250"/>
            <a:ext cx="2343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Pickups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F12104-9D08-4C29-BBE7-41C290DCFB70}"/>
              </a:ext>
            </a:extLst>
          </p:cNvPr>
          <p:cNvSpPr>
            <a:spLocks noGrp="1"/>
          </p:cNvSpPr>
          <p:nvPr/>
        </p:nvSpPr>
        <p:spPr>
          <a:xfrm>
            <a:off x="6343650" y="2228850"/>
            <a:ext cx="2343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t>869,410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693E2F-2345-413E-9162-BE218AB62BE7}"/>
              </a:ext>
            </a:extLst>
          </p:cNvPr>
          <p:cNvSpPr>
            <a:spLocks noGrp="1"/>
          </p:cNvSpPr>
          <p:nvPr/>
        </p:nvSpPr>
        <p:spPr>
          <a:xfrm>
            <a:off x="6343650" y="2628900"/>
            <a:ext cx="23431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64.3% of activity</a:t>
            </a:r>
          </a:p>
        </p:txBody>
      </p:sp>
      <p:sp>
        <p:nvSpPr>
          <p:cNvPr id="17" name="kpi-Average day">
            <a:extLst>
              <a:ext uri="{FF2B5EF4-FFF2-40B4-BE49-F238E27FC236}">
                <a16:creationId xmlns:a16="http://schemas.microsoft.com/office/drawing/2014/main" id="{FCBBDAF2-71FC-425D-A7FE-6F466C193D4C}"/>
              </a:ext>
            </a:extLst>
          </p:cNvPr>
          <p:cNvSpPr>
            <a:spLocks noGrp="1"/>
          </p:cNvSpPr>
          <p:nvPr/>
        </p:nvSpPr>
        <p:spPr>
          <a:xfrm>
            <a:off x="8986838" y="1870710"/>
            <a:ext cx="2690813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186389-AC6F-45C8-9903-F67FA4C24E3B}"/>
              </a:ext>
            </a:extLst>
          </p:cNvPr>
          <p:cNvSpPr>
            <a:spLocks noGrp="1"/>
          </p:cNvSpPr>
          <p:nvPr/>
        </p:nvSpPr>
        <p:spPr>
          <a:xfrm>
            <a:off x="9163050" y="2000250"/>
            <a:ext cx="2343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Average day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6F6FF7-007B-4339-B469-BF694D6C66BC}"/>
              </a:ext>
            </a:extLst>
          </p:cNvPr>
          <p:cNvSpPr>
            <a:spLocks noGrp="1"/>
          </p:cNvSpPr>
          <p:nvPr/>
        </p:nvSpPr>
        <p:spPr>
          <a:xfrm>
            <a:off x="9163050" y="2228850"/>
            <a:ext cx="234315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2250" b="1">
                <a:solidFill>
                  <a:srgbClr val="D7191C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>
                <a:solidFill>
                  <a:srgbClr val="D7191C"/>
                </a:solidFill>
                <a:latin typeface="Aptos Display"/>
              </a:rPr>
              <a:t>4,345</a:t>
            </a:r>
            <a:endParaRPr lang="en-US">
              <a:solidFill>
                <a:srgbClr val="569CD6"/>
              </a:solidFill>
              <a:highlight>
                <a:srgbClr val="1E1E1E"/>
              </a:highlight>
              <a:latin typeface="Menlo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0CDCE7-38B1-4771-A40C-89E02B52260F}"/>
              </a:ext>
            </a:extLst>
          </p:cNvPr>
          <p:cNvSpPr>
            <a:spLocks noGrp="1"/>
          </p:cNvSpPr>
          <p:nvPr/>
        </p:nvSpPr>
        <p:spPr>
          <a:xfrm>
            <a:off x="9163050" y="2628900"/>
            <a:ext cx="23431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parcel movements</a:t>
            </a:r>
          </a:p>
        </p:txBody>
      </p:sp>
      <p:sp>
        <p:nvSpPr>
          <p:cNvPr id="21" name="card">
            <a:extLst>
              <a:ext uri="{FF2B5EF4-FFF2-40B4-BE49-F238E27FC236}">
                <a16:creationId xmlns:a16="http://schemas.microsoft.com/office/drawing/2014/main" id="{B7BA89E4-40EF-414F-996F-5A85B24F5E92}"/>
              </a:ext>
            </a:extLst>
          </p:cNvPr>
          <p:cNvSpPr>
            <a:spLocks noGrp="1"/>
          </p:cNvSpPr>
          <p:nvPr/>
        </p:nvSpPr>
        <p:spPr>
          <a:xfrm>
            <a:off x="514350" y="3299460"/>
            <a:ext cx="6941976" cy="3158490"/>
          </a:xfrm>
          <a:prstGeom prst="roundRect">
            <a:avLst>
              <a:gd name="adj" fmla="val 2413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23" name="card">
            <a:extLst>
              <a:ext uri="{FF2B5EF4-FFF2-40B4-BE49-F238E27FC236}">
                <a16:creationId xmlns:a16="http://schemas.microsoft.com/office/drawing/2014/main" id="{77EDC156-5F2E-40CF-B519-23E7BC62F852}"/>
              </a:ext>
            </a:extLst>
          </p:cNvPr>
          <p:cNvSpPr>
            <a:spLocks noGrp="1"/>
          </p:cNvSpPr>
          <p:nvPr/>
        </p:nvSpPr>
        <p:spPr>
          <a:xfrm>
            <a:off x="7646826" y="3299460"/>
            <a:ext cx="4030824" cy="3158490"/>
          </a:xfrm>
          <a:prstGeom prst="roundRect">
            <a:avLst>
              <a:gd name="adj" fmla="val 2413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44C7741-645F-406D-BA1C-5C835A66DE90}"/>
              </a:ext>
            </a:extLst>
          </p:cNvPr>
          <p:cNvSpPr>
            <a:spLocks noGrp="1"/>
          </p:cNvSpPr>
          <p:nvPr/>
        </p:nvSpPr>
        <p:spPr>
          <a:xfrm>
            <a:off x="7842963" y="3600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4911FB-8B20-4079-A694-C3C012FFBFB7}"/>
              </a:ext>
            </a:extLst>
          </p:cNvPr>
          <p:cNvSpPr>
            <a:spLocks noGrp="1"/>
          </p:cNvSpPr>
          <p:nvPr/>
        </p:nvSpPr>
        <p:spPr>
          <a:xfrm>
            <a:off x="8014413" y="3547110"/>
            <a:ext cx="34099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Pickups already dominate the current network.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CE4E5A7-00B7-4243-AC17-00745CEDA0CD}"/>
              </a:ext>
            </a:extLst>
          </p:cNvPr>
          <p:cNvSpPr>
            <a:spLocks noGrp="1"/>
          </p:cNvSpPr>
          <p:nvPr/>
        </p:nvSpPr>
        <p:spPr>
          <a:xfrm>
            <a:off x="7842963" y="4331082"/>
            <a:ext cx="76200" cy="76200"/>
          </a:xfrm>
          <a:prstGeom prst="roundRect">
            <a:avLst>
              <a:gd name="adj" fmla="val 50000"/>
            </a:avLst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E1ECA7-E560-4E20-B0E4-99C9D5ED90E6}"/>
              </a:ext>
            </a:extLst>
          </p:cNvPr>
          <p:cNvSpPr>
            <a:spLocks noGrp="1"/>
          </p:cNvSpPr>
          <p:nvPr/>
        </p:nvSpPr>
        <p:spPr>
          <a:xfrm>
            <a:off x="8014413" y="4268217"/>
            <a:ext cx="34099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Total activity is stable enough to use average-day benchmarks.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AD60742-0AAB-440C-BD39-022398BAF553}"/>
              </a:ext>
            </a:extLst>
          </p:cNvPr>
          <p:cNvSpPr>
            <a:spLocks noGrp="1"/>
          </p:cNvSpPr>
          <p:nvPr/>
        </p:nvSpPr>
        <p:spPr>
          <a:xfrm>
            <a:off x="7842963" y="5050413"/>
            <a:ext cx="76200" cy="76200"/>
          </a:xfrm>
          <a:prstGeom prst="roundRect">
            <a:avLst>
              <a:gd name="adj" fmla="val 50000"/>
            </a:avLst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35A70A-2E44-4555-ABEB-7C0895816D71}"/>
              </a:ext>
            </a:extLst>
          </p:cNvPr>
          <p:cNvSpPr>
            <a:spLocks noGrp="1"/>
          </p:cNvSpPr>
          <p:nvPr/>
        </p:nvSpPr>
        <p:spPr>
          <a:xfrm>
            <a:off x="8014413" y="4989324"/>
            <a:ext cx="34099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Daily peaks still matter for capacity and bounce risk.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A424EF6-5D17-2B78-CAB3-5A2420D5C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333750"/>
            <a:ext cx="6903876" cy="315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5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se">
            <a:extLst>
              <a:ext uri="{FF2B5EF4-FFF2-40B4-BE49-F238E27FC236}">
                <a16:creationId xmlns:a16="http://schemas.microsoft.com/office/drawing/2014/main" id="{04593300-4E4E-4D24-86A9-3C0CE9028E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39D62397-ABEE-41A3-BC1B-9629AE7889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548D046-3F0B-4065-9459-05E904AC42F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t>Demand is not evenly distributed across time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26887069-53EE-4ED2-AD87-3FEC64FF9530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Weekday effects are important for daily capacity assumptions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27E08149-D052-414E-8603-7FB2CCDD0528}"/>
              </a:ext>
            </a:extLst>
          </p:cNvPr>
          <p:cNvSpPr>
            <a:spLocks noGrp="1"/>
          </p:cNvSpPr>
          <p:nvPr/>
        </p:nvSpPr>
        <p:spPr>
          <a:xfrm>
            <a:off x="489856" y="1354094"/>
            <a:ext cx="5747657" cy="5090160"/>
          </a:xfrm>
          <a:prstGeom prst="roundRect">
            <a:avLst>
              <a:gd name="adj" fmla="val 1497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49F8D621-5109-4511-BAD5-EDFAA7A183AE}"/>
              </a:ext>
            </a:extLst>
          </p:cNvPr>
          <p:cNvSpPr>
            <a:spLocks noGrp="1"/>
          </p:cNvSpPr>
          <p:nvPr/>
        </p:nvSpPr>
        <p:spPr>
          <a:xfrm>
            <a:off x="6452507" y="1367790"/>
            <a:ext cx="5225143" cy="5090160"/>
          </a:xfrm>
          <a:prstGeom prst="roundRect">
            <a:avLst>
              <a:gd name="adj" fmla="val 1497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C12893-CEAD-4A7F-A836-4F60BB39B700}"/>
              </a:ext>
            </a:extLst>
          </p:cNvPr>
          <p:cNvSpPr>
            <a:spLocks noGrp="1"/>
          </p:cNvSpPr>
          <p:nvPr/>
        </p:nvSpPr>
        <p:spPr>
          <a:xfrm>
            <a:off x="6776357" y="1663013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A7945D-F837-445B-AA0F-5FA1665B8E51}"/>
              </a:ext>
            </a:extLst>
          </p:cNvPr>
          <p:cNvSpPr>
            <a:spLocks noGrp="1"/>
          </p:cNvSpPr>
          <p:nvPr/>
        </p:nvSpPr>
        <p:spPr>
          <a:xfrm>
            <a:off x="6947807" y="1590160"/>
            <a:ext cx="4514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Tuesday has the highest average parcel activity.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D17B613-5CE4-4690-AC15-B63F1BAC45B9}"/>
              </a:ext>
            </a:extLst>
          </p:cNvPr>
          <p:cNvSpPr>
            <a:spLocks noGrp="1"/>
          </p:cNvSpPr>
          <p:nvPr/>
        </p:nvSpPr>
        <p:spPr>
          <a:xfrm>
            <a:off x="6776357" y="2113983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CEE32-B90E-4D90-B1B5-E03A03D4C813}"/>
              </a:ext>
            </a:extLst>
          </p:cNvPr>
          <p:cNvSpPr>
            <a:spLocks noGrp="1"/>
          </p:cNvSpPr>
          <p:nvPr/>
        </p:nvSpPr>
        <p:spPr>
          <a:xfrm>
            <a:off x="6947807" y="2041130"/>
            <a:ext cx="4514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Sunday records no activity in the supplied data.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54D1DAE-4D7D-43FF-956D-7A5CB107C656}"/>
              </a:ext>
            </a:extLst>
          </p:cNvPr>
          <p:cNvSpPr>
            <a:spLocks noGrp="1"/>
          </p:cNvSpPr>
          <p:nvPr/>
        </p:nvSpPr>
        <p:spPr>
          <a:xfrm>
            <a:off x="6776357" y="2577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28AA33-2DE5-4C62-B593-A4B93CD17026}"/>
              </a:ext>
            </a:extLst>
          </p:cNvPr>
          <p:cNvSpPr>
            <a:spLocks noGrp="1"/>
          </p:cNvSpPr>
          <p:nvPr/>
        </p:nvSpPr>
        <p:spPr>
          <a:xfrm>
            <a:off x="6947807" y="2492100"/>
            <a:ext cx="45148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A weekday-based demand model is a stronger baseline than one annual average.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516478-9993-4B56-B964-FD0285498FBA}"/>
              </a:ext>
            </a:extLst>
          </p:cNvPr>
          <p:cNvSpPr>
            <a:spLocks noGrp="1"/>
          </p:cNvSpPr>
          <p:nvPr/>
        </p:nvSpPr>
        <p:spPr>
          <a:xfrm>
            <a:off x="6776357" y="3232167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C310C7-5F0A-41EF-867D-4F3AFBC1F9A9}"/>
              </a:ext>
            </a:extLst>
          </p:cNvPr>
          <p:cNvSpPr>
            <a:spLocks noGrp="1"/>
          </p:cNvSpPr>
          <p:nvPr/>
        </p:nvSpPr>
        <p:spPr>
          <a:xfrm>
            <a:off x="6947807" y="3152620"/>
            <a:ext cx="45148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Capacity planning should use peak-day demand, not only average demand.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15E90D-3708-9A93-3E27-E4C1E4579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1" y="1326551"/>
            <a:ext cx="5723162" cy="28791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9BC28C-8A48-45DD-C4EC-6B2ECD45E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506" y="4134536"/>
            <a:ext cx="5225143" cy="238832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CA0EC6-79FD-8316-6DD9-0EFF9A60A811}"/>
              </a:ext>
            </a:extLst>
          </p:cNvPr>
          <p:cNvCxnSpPr/>
          <p:nvPr/>
        </p:nvCxnSpPr>
        <p:spPr>
          <a:xfrm>
            <a:off x="6357256" y="1448553"/>
            <a:ext cx="0" cy="864973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305124-80AC-CBE8-A734-A72CC8D35E77}"/>
              </a:ext>
            </a:extLst>
          </p:cNvPr>
          <p:cNvCxnSpPr/>
          <p:nvPr/>
        </p:nvCxnSpPr>
        <p:spPr>
          <a:xfrm>
            <a:off x="6357256" y="3091413"/>
            <a:ext cx="0" cy="864973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riangle 21">
            <a:extLst>
              <a:ext uri="{FF2B5EF4-FFF2-40B4-BE49-F238E27FC236}">
                <a16:creationId xmlns:a16="http://schemas.microsoft.com/office/drawing/2014/main" id="{78DC731D-FEE9-2852-CAB0-ECDB1E162176}"/>
              </a:ext>
            </a:extLst>
          </p:cNvPr>
          <p:cNvSpPr/>
          <p:nvPr/>
        </p:nvSpPr>
        <p:spPr>
          <a:xfrm rot="5400000">
            <a:off x="6014356" y="2657881"/>
            <a:ext cx="685800" cy="8917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1A3E8C-E6AD-A219-B136-6C1778ACD11E}"/>
              </a:ext>
            </a:extLst>
          </p:cNvPr>
          <p:cNvCxnSpPr/>
          <p:nvPr/>
        </p:nvCxnSpPr>
        <p:spPr>
          <a:xfrm rot="10800000">
            <a:off x="6357265" y="5644467"/>
            <a:ext cx="0" cy="702239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2A4F7C-1A11-7E86-C4C8-4D04E382D4BB}"/>
              </a:ext>
            </a:extLst>
          </p:cNvPr>
          <p:cNvCxnSpPr/>
          <p:nvPr/>
        </p:nvCxnSpPr>
        <p:spPr>
          <a:xfrm rot="10800000">
            <a:off x="6357265" y="4310691"/>
            <a:ext cx="0" cy="702239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riangle 32">
            <a:extLst>
              <a:ext uri="{FF2B5EF4-FFF2-40B4-BE49-F238E27FC236}">
                <a16:creationId xmlns:a16="http://schemas.microsoft.com/office/drawing/2014/main" id="{1AF24BA4-0B7C-16EB-A2DA-4AB506E4823F}"/>
              </a:ext>
            </a:extLst>
          </p:cNvPr>
          <p:cNvSpPr/>
          <p:nvPr/>
        </p:nvSpPr>
        <p:spPr>
          <a:xfrm rot="16200000">
            <a:off x="6078877" y="5284121"/>
            <a:ext cx="556775" cy="89157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612A6F9-E058-8E7C-8853-4C46577E1F37}"/>
              </a:ext>
            </a:extLst>
          </p:cNvPr>
          <p:cNvSpPr>
            <a:spLocks noGrp="1"/>
          </p:cNvSpPr>
          <p:nvPr/>
        </p:nvSpPr>
        <p:spPr>
          <a:xfrm>
            <a:off x="787861" y="4446219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E0E648-0611-F9FB-31C0-3F07C0FAD36E}"/>
              </a:ext>
            </a:extLst>
          </p:cNvPr>
          <p:cNvSpPr>
            <a:spLocks noGrp="1"/>
          </p:cNvSpPr>
          <p:nvPr/>
        </p:nvSpPr>
        <p:spPr>
          <a:xfrm>
            <a:off x="959311" y="4373366"/>
            <a:ext cx="4514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GB"/>
              <a:t>Pickup </a:t>
            </a:r>
            <a:r>
              <a:rPr lang="en-GB" err="1"/>
              <a:t>behavior</a:t>
            </a:r>
            <a:r>
              <a:rPr lang="en-GB"/>
              <a:t> is highly stable throughout the year</a:t>
            </a:r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61D4948-D72B-610F-A166-7782098FE24D}"/>
              </a:ext>
            </a:extLst>
          </p:cNvPr>
          <p:cNvSpPr>
            <a:spLocks noGrp="1"/>
          </p:cNvSpPr>
          <p:nvPr/>
        </p:nvSpPr>
        <p:spPr>
          <a:xfrm>
            <a:off x="787861" y="4897189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6A0C7B-F71B-AD51-DFEC-1FD7686BA6AD}"/>
              </a:ext>
            </a:extLst>
          </p:cNvPr>
          <p:cNvSpPr>
            <a:spLocks noGrp="1"/>
          </p:cNvSpPr>
          <p:nvPr/>
        </p:nvSpPr>
        <p:spPr>
          <a:xfrm>
            <a:off x="959311" y="4824336"/>
            <a:ext cx="4514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GB"/>
              <a:t>On average, 64.3% of all parcel activities are pickups</a:t>
            </a:r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B3BA937-4755-1CD8-8E23-4B6F9B01BA07}"/>
              </a:ext>
            </a:extLst>
          </p:cNvPr>
          <p:cNvSpPr>
            <a:spLocks noGrp="1"/>
          </p:cNvSpPr>
          <p:nvPr/>
        </p:nvSpPr>
        <p:spPr>
          <a:xfrm>
            <a:off x="787861" y="5361031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F3E2E5-1B09-FF76-E7E2-77CF142D2CA5}"/>
              </a:ext>
            </a:extLst>
          </p:cNvPr>
          <p:cNvSpPr>
            <a:spLocks noGrp="1"/>
          </p:cNvSpPr>
          <p:nvPr/>
        </p:nvSpPr>
        <p:spPr>
          <a:xfrm>
            <a:off x="959311" y="5284831"/>
            <a:ext cx="4514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GB"/>
              <a:t>There is no clear seasonal trend in the pickup share</a:t>
            </a:r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17696EC-D3C4-4C7B-2641-81861047AD8D}"/>
              </a:ext>
            </a:extLst>
          </p:cNvPr>
          <p:cNvSpPr>
            <a:spLocks noGrp="1"/>
          </p:cNvSpPr>
          <p:nvPr/>
        </p:nvSpPr>
        <p:spPr>
          <a:xfrm>
            <a:off x="787861" y="574426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A2CB3D-6E54-4018-E212-287C864D4BF7}"/>
              </a:ext>
            </a:extLst>
          </p:cNvPr>
          <p:cNvSpPr>
            <a:spLocks noGrp="1"/>
          </p:cNvSpPr>
          <p:nvPr/>
        </p:nvSpPr>
        <p:spPr>
          <a:xfrm>
            <a:off x="959311" y="5664718"/>
            <a:ext cx="45148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GB"/>
              <a:t>Business implication: Since pickups are much cheaper than deliveries, maintaining or increasing this pickup share is important for reducing total network costs.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25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se">
            <a:extLst>
              <a:ext uri="{FF2B5EF4-FFF2-40B4-BE49-F238E27FC236}">
                <a16:creationId xmlns:a16="http://schemas.microsoft.com/office/drawing/2014/main" id="{B8DA5DDC-497A-4A25-A79C-13881AC6C6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C5A19C9D-9F30-4BA7-9890-BDAD4729B7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398AD93-C203-4933-917C-EDF19569DE3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t>2. Parcel volume is concentrated in a small set of service points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7854B4F-56A0-4A6F-8252-15BC9480DDA9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Current usage differs sharply across the 35 locations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25633F26-A887-4C3F-B160-7BC568668D56}"/>
              </a:ext>
            </a:extLst>
          </p:cNvPr>
          <p:cNvSpPr>
            <a:spLocks noGrp="1"/>
          </p:cNvSpPr>
          <p:nvPr/>
        </p:nvSpPr>
        <p:spPr>
          <a:xfrm>
            <a:off x="514350" y="1870710"/>
            <a:ext cx="5495925" cy="3299178"/>
          </a:xfrm>
          <a:prstGeom prst="roundRect">
            <a:avLst>
              <a:gd name="adj" fmla="val 2310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78B33B23-26A0-4B31-848A-0FE02424C0D0}"/>
              </a:ext>
            </a:extLst>
          </p:cNvPr>
          <p:cNvSpPr>
            <a:spLocks noGrp="1"/>
          </p:cNvSpPr>
          <p:nvPr/>
        </p:nvSpPr>
        <p:spPr>
          <a:xfrm>
            <a:off x="6181725" y="1870710"/>
            <a:ext cx="5495925" cy="3299178"/>
          </a:xfrm>
          <a:prstGeom prst="roundRect">
            <a:avLst>
              <a:gd name="adj" fmla="val 2310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468F6C44-BC49-4F92-8A6B-8E3DCE873197}"/>
              </a:ext>
            </a:extLst>
          </p:cNvPr>
          <p:cNvSpPr>
            <a:spLocks noGrp="1"/>
          </p:cNvSpPr>
          <p:nvPr/>
        </p:nvSpPr>
        <p:spPr>
          <a:xfrm>
            <a:off x="514350" y="5303238"/>
            <a:ext cx="5495925" cy="1154712"/>
          </a:xfrm>
          <a:prstGeom prst="roundRect">
            <a:avLst>
              <a:gd name="adj" fmla="val 6599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85CFCD4-1D5D-498B-97B0-FB71E15A733C}"/>
              </a:ext>
            </a:extLst>
          </p:cNvPr>
          <p:cNvSpPr>
            <a:spLocks noGrp="1"/>
          </p:cNvSpPr>
          <p:nvPr/>
        </p:nvSpPr>
        <p:spPr>
          <a:xfrm>
            <a:off x="666750" y="5448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8C7728-E4DC-40F3-A6FF-31FA6115AC0F}"/>
              </a:ext>
            </a:extLst>
          </p:cNvPr>
          <p:cNvSpPr>
            <a:spLocks noGrp="1"/>
          </p:cNvSpPr>
          <p:nvPr/>
        </p:nvSpPr>
        <p:spPr>
          <a:xfrm>
            <a:off x="838200" y="5448300"/>
            <a:ext cx="5029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Location 4440 is the busiest service point with 166,815 annual parcel activities.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D03BE64-868C-4624-9458-F6CE79A4C84A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571A-54F1-4A09-B5BF-C1C7E9C35323}"/>
              </a:ext>
            </a:extLst>
          </p:cNvPr>
          <p:cNvSpPr>
            <a:spLocks noGrp="1"/>
          </p:cNvSpPr>
          <p:nvPr/>
        </p:nvSpPr>
        <p:spPr>
          <a:xfrm>
            <a:off x="838200" y="5924550"/>
            <a:ext cx="5029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Service point performance varies enough to require location-specific capacity assumptions.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C1594F0B-009E-43A8-ACA1-02932AA1381F}"/>
              </a:ext>
            </a:extLst>
          </p:cNvPr>
          <p:cNvSpPr>
            <a:spLocks noGrp="1"/>
          </p:cNvSpPr>
          <p:nvPr/>
        </p:nvSpPr>
        <p:spPr>
          <a:xfrm>
            <a:off x="6181725" y="5303238"/>
            <a:ext cx="5495925" cy="1154712"/>
          </a:xfrm>
          <a:prstGeom prst="roundRect">
            <a:avLst>
              <a:gd name="adj" fmla="val 6599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541D728-6589-41BE-AFA7-2DC8878C3158}"/>
              </a:ext>
            </a:extLst>
          </p:cNvPr>
          <p:cNvSpPr>
            <a:spLocks noGrp="1"/>
          </p:cNvSpPr>
          <p:nvPr/>
        </p:nvSpPr>
        <p:spPr>
          <a:xfrm>
            <a:off x="6343650" y="5448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</p:spPr>
        <p:txBody>
          <a:bodyPr/>
          <a:lstStyle/>
          <a:p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C95732-A38E-451F-BAA0-D609675B1990}"/>
              </a:ext>
            </a:extLst>
          </p:cNvPr>
          <p:cNvSpPr>
            <a:spLocks noGrp="1"/>
          </p:cNvSpPr>
          <p:nvPr/>
        </p:nvSpPr>
        <p:spPr>
          <a:xfrm>
            <a:off x="6515100" y="5448300"/>
            <a:ext cx="5029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Most locations are pickup-heavy, but some points have much lower pickup share.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DE77DD9-FAD8-442C-9787-F20AD4599A99}"/>
              </a:ext>
            </a:extLst>
          </p:cNvPr>
          <p:cNvSpPr>
            <a:spLocks noGrp="1"/>
          </p:cNvSpPr>
          <p:nvPr/>
        </p:nvSpPr>
        <p:spPr>
          <a:xfrm>
            <a:off x="6343650" y="5924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</p:spPr>
        <p:txBody>
          <a:bodyPr/>
          <a:lstStyle/>
          <a:p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16EE6B-B203-405F-A130-A878FE37719C}"/>
              </a:ext>
            </a:extLst>
          </p:cNvPr>
          <p:cNvSpPr>
            <a:spLocks noGrp="1"/>
          </p:cNvSpPr>
          <p:nvPr/>
        </p:nvSpPr>
        <p:spPr>
          <a:xfrm>
            <a:off x="6515100" y="5924550"/>
            <a:ext cx="5029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Pickup/delivery ratios should be modelled by area, not assumed constant everywhere.</a:t>
            </a:r>
          </a:p>
        </p:txBody>
      </p:sp>
    </p:spTree>
    <p:extLst>
      <p:ext uri="{BB962C8B-B14F-4D97-AF65-F5344CB8AC3E}">
        <p14:creationId xmlns:p14="http://schemas.microsoft.com/office/powerpoint/2010/main" val="182163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02920" y="30175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Distribution of Service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current Maastricht service point network is located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7315200" cy="5212080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map and service point locations</a:t>
            </a:r>
            <a:endParaRPr lang="en-US" sz="1250" dirty="0"/>
          </a:p>
        </p:txBody>
      </p:sp>
      <p:pic>
        <p:nvPicPr>
          <p:cNvPr id="7" name="Image 0" descr="/Users/macbook/Documents/Codex/2026-05-21/files-mentioned-by-the-user-post/geographical_editable_assets/street_network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856232"/>
            <a:ext cx="594360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261872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8330184" y="1408176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330184" y="171907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points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9875520" y="1261872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9"/>
          <p:cNvSpPr/>
          <p:nvPr/>
        </p:nvSpPr>
        <p:spPr>
          <a:xfrm>
            <a:off x="10021824" y="1408176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021824" y="171907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year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8183879" y="2395728"/>
            <a:ext cx="3239857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2"/>
          <p:cNvSpPr/>
          <p:nvPr/>
        </p:nvSpPr>
        <p:spPr>
          <a:xfrm>
            <a:off x="8385048" y="26151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observation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94192" y="29992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650224" y="30175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points are concentrated in central and western Maastricht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8394192" y="36758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50224" y="36941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and northern edges have fewer and more dispersed points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8394192" y="43525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650224" y="4370832"/>
            <a:ext cx="2642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alone is not enough: need to compare with population and distance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8183880" y="5138928"/>
            <a:ext cx="3239856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0"/>
          <p:cNvSpPr/>
          <p:nvPr/>
        </p:nvSpPr>
        <p:spPr>
          <a:xfrm>
            <a:off x="8385048" y="53400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cs typeface="Arial" pitchFamily="34" charset="-120"/>
              </a:rPr>
              <a:t>Takeaway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394192" y="56875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631936" y="56052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GB" sz="1220" dirty="0">
                <a:latin typeface="Arial" panose="020B0604020202020204" pitchFamily="34" charset="0"/>
                <a:cs typeface="Arial" panose="020B0604020202020204" pitchFamily="34" charset="0"/>
              </a:rPr>
              <a:t>Service point locations are not evenly distributed</a:t>
            </a:r>
            <a:endParaRPr lang="en-US" sz="12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02920" y="30175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and Accessibility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population squares show where demand potential is highest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440680" cy="449884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distribution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143000"/>
            <a:ext cx="5440680" cy="449884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6473952" y="1307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to nearest service point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5815584"/>
            <a:ext cx="112014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8"/>
          <p:cNvSpPr/>
          <p:nvPr/>
        </p:nvSpPr>
        <p:spPr>
          <a:xfrm>
            <a:off x="713232" y="59801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999699" y="60167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high-population CBS squares are close to an existing service point; longer distances mainly appear around peripheral areas.</a:t>
            </a:r>
            <a:endParaRPr lang="en-US" sz="1230" dirty="0"/>
          </a:p>
        </p:txBody>
      </p:sp>
      <p:pic>
        <p:nvPicPr>
          <p:cNvPr id="14" name="Picture 13" descr="A map of a city with dots&#10;&#10;AI-generated content may be incorrect.">
            <a:extLst>
              <a:ext uri="{FF2B5EF4-FFF2-40B4-BE49-F238E27FC236}">
                <a16:creationId xmlns:a16="http://schemas.microsoft.com/office/drawing/2014/main" id="{CB9B4178-9575-3AE7-CC3D-CFBD0ECE0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1" t="7600" r="12075"/>
          <a:stretch>
            <a:fillRect/>
          </a:stretch>
        </p:blipFill>
        <p:spPr>
          <a:xfrm>
            <a:off x="713233" y="1709928"/>
            <a:ext cx="4647908" cy="3505851"/>
          </a:xfrm>
          <a:prstGeom prst="rect">
            <a:avLst/>
          </a:prstGeom>
        </p:spPr>
      </p:pic>
      <p:pic>
        <p:nvPicPr>
          <p:cNvPr id="16" name="Picture 15" descr="A map with many dots&#10;&#10;AI-generated content may be incorrect.">
            <a:extLst>
              <a:ext uri="{FF2B5EF4-FFF2-40B4-BE49-F238E27FC236}">
                <a16:creationId xmlns:a16="http://schemas.microsoft.com/office/drawing/2014/main" id="{24EFF7C2-28B2-4A9D-F0D0-70C4370F38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5" t="6428" r="7215"/>
          <a:stretch>
            <a:fillRect/>
          </a:stretch>
        </p:blipFill>
        <p:spPr>
          <a:xfrm>
            <a:off x="6473952" y="1700784"/>
            <a:ext cx="5074056" cy="35080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02920" y="30175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 Areas and Catchments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Nearest-service-point assignment highlights where coverage pressure may appear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626364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8848" y="1226215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catchment areas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86600" y="1143000"/>
            <a:ext cx="4617720" cy="2615184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7296912" y="1226215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Potentially underserved CBS squares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086600" y="4023360"/>
            <a:ext cx="13533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8"/>
          <p:cNvSpPr/>
          <p:nvPr/>
        </p:nvSpPr>
        <p:spPr>
          <a:xfrm>
            <a:off x="7232904" y="416966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232904" y="448056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threshold</a:t>
            </a:r>
            <a:endParaRPr lang="en-US" sz="840" dirty="0"/>
          </a:p>
        </p:txBody>
      </p:sp>
      <p:sp>
        <p:nvSpPr>
          <p:cNvPr id="14" name="Shape 10"/>
          <p:cNvSpPr/>
          <p:nvPr/>
        </p:nvSpPr>
        <p:spPr>
          <a:xfrm>
            <a:off x="8732520" y="4023360"/>
            <a:ext cx="13533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/>
          <p:cNvSpPr/>
          <p:nvPr/>
        </p:nvSpPr>
        <p:spPr>
          <a:xfrm>
            <a:off x="8878824" y="416966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&gt;1,000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878824" y="448056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filter</a:t>
            </a:r>
            <a:endParaRPr lang="en-US" sz="840" dirty="0"/>
          </a:p>
        </p:txBody>
      </p:sp>
      <p:sp>
        <p:nvSpPr>
          <p:cNvPr id="17" name="Shape 13"/>
          <p:cNvSpPr/>
          <p:nvPr/>
        </p:nvSpPr>
        <p:spPr>
          <a:xfrm>
            <a:off x="10378440" y="4023360"/>
            <a:ext cx="1325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4"/>
          <p:cNvSpPr/>
          <p:nvPr/>
        </p:nvSpPr>
        <p:spPr>
          <a:xfrm>
            <a:off x="10524744" y="4169664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0524744" y="448056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squares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7086600" y="5074920"/>
            <a:ext cx="4617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7"/>
          <p:cNvSpPr/>
          <p:nvPr/>
        </p:nvSpPr>
        <p:spPr>
          <a:xfrm>
            <a:off x="7296912" y="5285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cs typeface="Arial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296912" y="5650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552944" y="566928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Coverage is generally strong for dense areas, but the catchment map shows uneven service areas. Peripheral CBS squares with longer distances are the main candidates for improvement.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 descr="A map of a city with many colored dots&#10;&#10;AI-generated content may be incorrect.">
            <a:extLst>
              <a:ext uri="{FF2B5EF4-FFF2-40B4-BE49-F238E27FC236}">
                <a16:creationId xmlns:a16="http://schemas.microsoft.com/office/drawing/2014/main" id="{A32F4B6B-D183-17F7-11A3-3B410895D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5" t="7643" r="11955"/>
          <a:stretch>
            <a:fillRect/>
          </a:stretch>
        </p:blipFill>
        <p:spPr>
          <a:xfrm>
            <a:off x="688848" y="1608933"/>
            <a:ext cx="5940552" cy="4499259"/>
          </a:xfrm>
          <a:prstGeom prst="rect">
            <a:avLst/>
          </a:prstGeom>
        </p:spPr>
      </p:pic>
      <p:pic>
        <p:nvPicPr>
          <p:cNvPr id="25" name="Picture 24" descr="A graph of a number of dots&#10;&#10;AI-generated content may be incorrect.">
            <a:extLst>
              <a:ext uri="{FF2B5EF4-FFF2-40B4-BE49-F238E27FC236}">
                <a16:creationId xmlns:a16="http://schemas.microsoft.com/office/drawing/2014/main" id="{6D9C6E42-8171-A4F5-E25E-2C70D2606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6" b="1874"/>
          <a:stretch>
            <a:fillRect/>
          </a:stretch>
        </p:blipFill>
        <p:spPr>
          <a:xfrm>
            <a:off x="7296912" y="1484993"/>
            <a:ext cx="3950208" cy="2225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se">
            <a:extLst>
              <a:ext uri="{FF2B5EF4-FFF2-40B4-BE49-F238E27FC236}">
                <a16:creationId xmlns:a16="http://schemas.microsoft.com/office/drawing/2014/main" id="{8184C7DE-164B-47C5-816E-6CD9E5344B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DB0D7092-B19B-44FD-B304-8BE92FEFA8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6ED544C-00C6-4DA6-ABED-0505BBDC2481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t>4. CBS demographics provide demand-potential variables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04523E9-9A49-440E-8FEB-6B42B1CB3F4B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Population is the cleanest anchor; detailed demographic fields need careful missing-value handling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B0AD16FA-5AE8-4E20-A874-18C5818AA948}"/>
              </a:ext>
            </a:extLst>
          </p:cNvPr>
          <p:cNvSpPr>
            <a:spLocks noGrp="1"/>
          </p:cNvSpPr>
          <p:nvPr/>
        </p:nvSpPr>
        <p:spPr>
          <a:xfrm>
            <a:off x="514350" y="1870710"/>
            <a:ext cx="6270171" cy="4587240"/>
          </a:xfrm>
          <a:prstGeom prst="roundRect">
            <a:avLst>
              <a:gd name="adj" fmla="val 1661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7" name="card">
            <a:extLst>
              <a:ext uri="{FF2B5EF4-FFF2-40B4-BE49-F238E27FC236}">
                <a16:creationId xmlns:a16="http://schemas.microsoft.com/office/drawing/2014/main" id="{775F4CFC-D5BA-4A58-979A-78A7A4C9B5CE}"/>
              </a:ext>
            </a:extLst>
          </p:cNvPr>
          <p:cNvSpPr>
            <a:spLocks noGrp="1"/>
          </p:cNvSpPr>
          <p:nvPr/>
        </p:nvSpPr>
        <p:spPr>
          <a:xfrm>
            <a:off x="6975021" y="1870710"/>
            <a:ext cx="4702629" cy="4587240"/>
          </a:xfrm>
          <a:prstGeom prst="roundRect">
            <a:avLst>
              <a:gd name="adj" fmla="val 1661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6C854C-5F4A-4ECD-9363-1DFDEF9BF052}"/>
              </a:ext>
            </a:extLst>
          </p:cNvPr>
          <p:cNvSpPr>
            <a:spLocks noGrp="1"/>
          </p:cNvSpPr>
          <p:nvPr/>
        </p:nvSpPr>
        <p:spPr>
          <a:xfrm>
            <a:off x="7219950" y="2114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</p:spPr>
        <p:txBody>
          <a:bodyPr/>
          <a:lstStyle/>
          <a:p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5F94C-A3A4-4238-AD6F-C72435E3F53E}"/>
              </a:ext>
            </a:extLst>
          </p:cNvPr>
          <p:cNvSpPr>
            <a:spLocks noGrp="1"/>
          </p:cNvSpPr>
          <p:nvPr/>
        </p:nvSpPr>
        <p:spPr>
          <a:xfrm>
            <a:off x="7391400" y="2114550"/>
            <a:ext cx="40386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Recommended primary variable: population per CBS square.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660F19-4BCF-4C23-AA73-A1353FB16C3C}"/>
              </a:ext>
            </a:extLst>
          </p:cNvPr>
          <p:cNvSpPr>
            <a:spLocks noGrp="1"/>
          </p:cNvSpPr>
          <p:nvPr/>
        </p:nvSpPr>
        <p:spPr>
          <a:xfrm>
            <a:off x="7219950" y="2667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04883-6120-4D6A-9455-98FCA71A0DA1}"/>
              </a:ext>
            </a:extLst>
          </p:cNvPr>
          <p:cNvSpPr>
            <a:spLocks noGrp="1"/>
          </p:cNvSpPr>
          <p:nvPr/>
        </p:nvSpPr>
        <p:spPr>
          <a:xfrm>
            <a:off x="7391400" y="2667000"/>
            <a:ext cx="40386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Useful extensions: households, age 25-44, urbanization/OAD and income bands.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0546B61-0655-4F5E-859A-EC16C4E1EA0B}"/>
              </a:ext>
            </a:extLst>
          </p:cNvPr>
          <p:cNvSpPr>
            <a:spLocks noGrp="1"/>
          </p:cNvSpPr>
          <p:nvPr/>
        </p:nvSpPr>
        <p:spPr>
          <a:xfrm>
            <a:off x="7219950" y="3219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</p:spPr>
        <p:txBody>
          <a:bodyPr/>
          <a:lstStyle/>
          <a:p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0508AF-3832-4197-80F7-54E8E440C1A8}"/>
              </a:ext>
            </a:extLst>
          </p:cNvPr>
          <p:cNvSpPr>
            <a:spLocks noGrp="1"/>
          </p:cNvSpPr>
          <p:nvPr/>
        </p:nvSpPr>
        <p:spPr>
          <a:xfrm>
            <a:off x="7391400" y="3219450"/>
            <a:ext cx="40386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Rows with no demographic data should be removed for spatial demand allocation.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036090-8BCD-40CA-BA58-4391F4F31EBF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81B14F-E6C9-4CE8-80F3-24CFF74A8259}"/>
              </a:ext>
            </a:extLst>
          </p:cNvPr>
          <p:cNvSpPr>
            <a:spLocks noGrp="1"/>
          </p:cNvSpPr>
          <p:nvPr/>
        </p:nvSpPr>
        <p:spPr>
          <a:xfrm>
            <a:off x="7391400" y="3790950"/>
            <a:ext cx="40386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Partial missing values can be imputed or excluded depending on modelling risk.</a:t>
            </a:r>
          </a:p>
        </p:txBody>
      </p:sp>
    </p:spTree>
    <p:extLst>
      <p:ext uri="{BB962C8B-B14F-4D97-AF65-F5344CB8AC3E}">
        <p14:creationId xmlns:p14="http://schemas.microsoft.com/office/powerpoint/2010/main" val="2010633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se">
            <a:extLst>
              <a:ext uri="{FF2B5EF4-FFF2-40B4-BE49-F238E27FC236}">
                <a16:creationId xmlns:a16="http://schemas.microsoft.com/office/drawing/2014/main" id="{F63C3C79-3B04-4D66-B2F7-2EE9046B0B6A}"/>
              </a:ext>
            </a:extLst>
          </p:cNvPr>
          <p:cNvSpPr>
            <a:spLocks noGrp="1"/>
          </p:cNvSpPr>
          <p:nvPr/>
        </p:nvSpPr>
        <p:spPr>
          <a:xfrm>
            <a:off x="0" y="112889"/>
            <a:ext cx="12192000" cy="6858000"/>
          </a:xfrm>
          <a:prstGeom prst="rect">
            <a:avLst/>
          </a:prstGeom>
          <a:solidFill>
            <a:srgbClr val="FAFBFC"/>
          </a:solidFill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EF359D34-6FBC-48AC-ACC2-FA5571D2EB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4D25A97-3542-47CB-88BF-536B01FF7A18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t>5. Distance explains accessibility and likely pickup behavior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BF60599E-5191-4853-92E5-5879CE552481}"/>
              </a:ext>
            </a:extLst>
          </p:cNvPr>
          <p:cNvSpPr>
            <a:spLocks noGrp="1"/>
          </p:cNvSpPr>
          <p:nvPr/>
        </p:nvSpPr>
        <p:spPr>
          <a:xfrm>
            <a:off x="514350" y="90678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Each CBS square is assigned to its nearest service point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87AE9112-2349-4581-9792-BE8A31153FC0}"/>
              </a:ext>
            </a:extLst>
          </p:cNvPr>
          <p:cNvSpPr>
            <a:spLocks noGrp="1"/>
          </p:cNvSpPr>
          <p:nvPr/>
        </p:nvSpPr>
        <p:spPr>
          <a:xfrm>
            <a:off x="514350" y="1870710"/>
            <a:ext cx="4305957" cy="4587240"/>
          </a:xfrm>
          <a:prstGeom prst="roundRect">
            <a:avLst>
              <a:gd name="adj" fmla="val 1770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F4E32805-DA3E-4A2D-A917-FD55DD2E2492}"/>
              </a:ext>
            </a:extLst>
          </p:cNvPr>
          <p:cNvSpPr>
            <a:spLocks noGrp="1"/>
          </p:cNvSpPr>
          <p:nvPr/>
        </p:nvSpPr>
        <p:spPr>
          <a:xfrm>
            <a:off x="8869417" y="1870710"/>
            <a:ext cx="2808233" cy="4587240"/>
          </a:xfrm>
          <a:prstGeom prst="roundRect">
            <a:avLst>
              <a:gd name="adj" fmla="val 2713"/>
            </a:avLst>
          </a:prstGeom>
          <a:solidFill>
            <a:srgbClr val="FFFFFF"/>
          </a:solidFill>
        </p:spPr>
        <p:txBody>
          <a:bodyPr/>
          <a:lstStyle/>
          <a:p>
            <a:endParaRPr lang="en-NL" sz="200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E6403E-5FF1-4DE8-9057-5B98FC00FFFA}"/>
              </a:ext>
            </a:extLst>
          </p:cNvPr>
          <p:cNvSpPr>
            <a:spLocks noGrp="1"/>
          </p:cNvSpPr>
          <p:nvPr/>
        </p:nvSpPr>
        <p:spPr>
          <a:xfrm>
            <a:off x="9051572" y="2076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33F65-2513-4621-8001-79E2AD37F836}"/>
              </a:ext>
            </a:extLst>
          </p:cNvPr>
          <p:cNvSpPr>
            <a:spLocks noGrp="1"/>
          </p:cNvSpPr>
          <p:nvPr/>
        </p:nvSpPr>
        <p:spPr>
          <a:xfrm>
            <a:off x="9258300" y="2076450"/>
            <a:ext cx="22098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127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/>
              <a:t>Population-weighted average distance is about </a:t>
            </a:r>
            <a:r>
              <a:rPr lang="en-GB" sz="1400"/>
              <a:t>0.87</a:t>
            </a:r>
            <a:r>
              <a:rPr sz="1400"/>
              <a:t> km.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6F15A62-E4CA-4CF7-9EB1-A1C3E2AB3B18}"/>
              </a:ext>
            </a:extLst>
          </p:cNvPr>
          <p:cNvSpPr>
            <a:spLocks noGrp="1"/>
          </p:cNvSpPr>
          <p:nvPr/>
        </p:nvSpPr>
        <p:spPr>
          <a:xfrm>
            <a:off x="9051572" y="3292122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EA0B7-3DCB-4C5F-8529-FDE5F25B3876}"/>
              </a:ext>
            </a:extLst>
          </p:cNvPr>
          <p:cNvSpPr>
            <a:spLocks noGrp="1"/>
          </p:cNvSpPr>
          <p:nvPr/>
        </p:nvSpPr>
        <p:spPr>
          <a:xfrm>
            <a:off x="9258300" y="3165123"/>
            <a:ext cx="22098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127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GB" sz="1400"/>
              <a:t>92.8% of population CBS</a:t>
            </a:r>
            <a:r>
              <a:rPr sz="1400"/>
              <a:t> squares are within </a:t>
            </a:r>
            <a:r>
              <a:rPr lang="en-GB" sz="1400"/>
              <a:t>2 km</a:t>
            </a:r>
            <a:r>
              <a:rPr sz="1400"/>
              <a:t>.</a:t>
            </a:r>
            <a:endParaRPr lang="en-US" sz="140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F360A0-C4F4-4035-8E21-A7AC6A5A6F9A}"/>
              </a:ext>
            </a:extLst>
          </p:cNvPr>
          <p:cNvSpPr>
            <a:spLocks noGrp="1"/>
          </p:cNvSpPr>
          <p:nvPr/>
        </p:nvSpPr>
        <p:spPr>
          <a:xfrm>
            <a:off x="9051572" y="3959578"/>
            <a:ext cx="76200" cy="76200"/>
          </a:xfrm>
          <a:prstGeom prst="roundRect">
            <a:avLst>
              <a:gd name="adj" fmla="val 50000"/>
            </a:avLst>
          </a:prstGeom>
          <a:solidFill>
            <a:srgbClr val="315E9C"/>
          </a:solidFill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D1893F-A233-4435-A148-E7ECAFA0E5C0}"/>
              </a:ext>
            </a:extLst>
          </p:cNvPr>
          <p:cNvSpPr>
            <a:spLocks noGrp="1"/>
          </p:cNvSpPr>
          <p:nvPr/>
        </p:nvSpPr>
        <p:spPr>
          <a:xfrm>
            <a:off x="9258300" y="3846689"/>
            <a:ext cx="2209800" cy="59055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127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400"/>
              <a:t>5.1% of population is over 3km away from nearest point. 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9E29727-81C8-2E9D-1CE9-6AECBBBAD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14" y="1409166"/>
            <a:ext cx="4493623" cy="45415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A83C328-E840-6D20-A1A5-4C8660993EA5}"/>
              </a:ext>
            </a:extLst>
          </p:cNvPr>
          <p:cNvSpPr txBox="1"/>
          <p:nvPr/>
        </p:nvSpPr>
        <p:spPr>
          <a:xfrm>
            <a:off x="5244202" y="1883833"/>
            <a:ext cx="3292377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Most high-population CBS squares are within 1 km of a service point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Distance drops significantly once population-weighted — remote squares are sparsely populated</a:t>
            </a:r>
            <a:endParaRPr lang="en-GB"/>
          </a:p>
          <a:p>
            <a:pPr marL="285750" indent="-285750">
              <a:buFont typeface="Arial"/>
              <a:buChar char="•"/>
            </a:pP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A small but concentrated group of residents around SP 5820 face distances over 4 km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101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483AA-567F-FAB0-DFFD-B2A7E632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se">
            <a:extLst>
              <a:ext uri="{FF2B5EF4-FFF2-40B4-BE49-F238E27FC236}">
                <a16:creationId xmlns:a16="http://schemas.microsoft.com/office/drawing/2014/main" id="{61AA650E-B862-48EB-989D-9AA86C0BCD2C}"/>
              </a:ext>
            </a:extLst>
          </p:cNvPr>
          <p:cNvSpPr>
            <a:spLocks noGrp="1"/>
          </p:cNvSpPr>
          <p:nvPr/>
        </p:nvSpPr>
        <p:spPr>
          <a:xfrm>
            <a:off x="0" y="112889"/>
            <a:ext cx="12192000" cy="6858000"/>
          </a:xfrm>
          <a:prstGeom prst="rect">
            <a:avLst/>
          </a:prstGeom>
          <a:solidFill>
            <a:srgbClr val="FAFBFC"/>
          </a:solidFill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99EC4F47-289A-E787-E815-08A038CCD5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D35E898-B562-F764-2516-E018306504F1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925299" cy="100965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>
                <a:ea typeface="+mn-lt"/>
                <a:cs typeface="+mn-lt"/>
              </a:rPr>
              <a:t>Distance distribution is right-skewed with a clear peripheral tail</a:t>
            </a:r>
            <a:endParaRPr lang="en-US"/>
          </a:p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1243923-36FB-1B52-FCCB-5AEDE466EF85}"/>
              </a:ext>
            </a:extLst>
          </p:cNvPr>
          <p:cNvSpPr>
            <a:spLocks noGrp="1"/>
          </p:cNvSpPr>
          <p:nvPr/>
        </p:nvSpPr>
        <p:spPr>
          <a:xfrm>
            <a:off x="514350" y="90678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Each CBS square is assigned to its nearest service point</a:t>
            </a: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2D91549E-1B0B-F285-A7C8-738524ABD188}"/>
              </a:ext>
            </a:extLst>
          </p:cNvPr>
          <p:cNvSpPr>
            <a:spLocks noGrp="1"/>
          </p:cNvSpPr>
          <p:nvPr/>
        </p:nvSpPr>
        <p:spPr>
          <a:xfrm>
            <a:off x="8481361" y="1687265"/>
            <a:ext cx="3259788" cy="4566074"/>
          </a:xfrm>
          <a:prstGeom prst="roundRect">
            <a:avLst>
              <a:gd name="adj" fmla="val 2713"/>
            </a:avLst>
          </a:prstGeom>
          <a:solidFill>
            <a:srgbClr val="FFFFFF"/>
          </a:solidFill>
        </p:spPr>
        <p:txBody>
          <a:bodyPr/>
          <a:lstStyle/>
          <a:p>
            <a:endParaRPr lang="en-NL" sz="2000"/>
          </a:p>
        </p:txBody>
      </p:sp>
      <p:pic>
        <p:nvPicPr>
          <p:cNvPr id="17" name="Picture 16" descr="A graph of a network distance&#10;&#10;AI-generated content may be incorrect.">
            <a:extLst>
              <a:ext uri="{FF2B5EF4-FFF2-40B4-BE49-F238E27FC236}">
                <a16:creationId xmlns:a16="http://schemas.microsoft.com/office/drawing/2014/main" id="{15F90AE0-EC13-0399-01E9-6C392F403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44" y="1693333"/>
            <a:ext cx="7754056" cy="4543776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F25A45E-2CCA-9FB8-BB0D-67D5CD868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03340"/>
              </p:ext>
            </p:extLst>
          </p:nvPr>
        </p:nvGraphicFramePr>
        <p:xfrm>
          <a:off x="8248791" y="1696043"/>
          <a:ext cx="3716154" cy="4293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176">
                  <a:extLst>
                    <a:ext uri="{9D8B030D-6E8A-4147-A177-3AD203B41FA5}">
                      <a16:colId xmlns:a16="http://schemas.microsoft.com/office/drawing/2014/main" val="290331004"/>
                    </a:ext>
                  </a:extLst>
                </a:gridCol>
                <a:gridCol w="966978">
                  <a:extLst>
                    <a:ext uri="{9D8B030D-6E8A-4147-A177-3AD203B41FA5}">
                      <a16:colId xmlns:a16="http://schemas.microsoft.com/office/drawing/2014/main" val="4162823448"/>
                    </a:ext>
                  </a:extLst>
                </a:gridCol>
              </a:tblGrid>
              <a:tr h="613341">
                <a:tc>
                  <a:txBody>
                    <a:bodyPr/>
                    <a:lstStyle/>
                    <a:p>
                      <a:r>
                        <a:rPr lang="en-GB"/>
                        <a:t>Metric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Value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536987"/>
                  </a:ext>
                </a:extLst>
              </a:tr>
              <a:tr h="613341">
                <a:tc>
                  <a:txBody>
                    <a:bodyPr/>
                    <a:lstStyle/>
                    <a:p>
                      <a:r>
                        <a:rPr lang="en-GB"/>
                        <a:t>Mean network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1.77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59854"/>
                  </a:ext>
                </a:extLst>
              </a:tr>
              <a:tr h="613341">
                <a:tc>
                  <a:txBody>
                    <a:bodyPr/>
                    <a:lstStyle/>
                    <a:p>
                      <a:r>
                        <a:rPr lang="en-GB"/>
                        <a:t>Median network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1.24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454426"/>
                  </a:ext>
                </a:extLst>
              </a:tr>
              <a:tr h="613341">
                <a:tc>
                  <a:txBody>
                    <a:bodyPr/>
                    <a:lstStyle/>
                    <a:p>
                      <a:r>
                        <a:rPr lang="en-GB"/>
                        <a:t>Max network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6.79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237176"/>
                  </a:ext>
                </a:extLst>
              </a:tr>
              <a:tr h="613341">
                <a:tc>
                  <a:txBody>
                    <a:bodyPr/>
                    <a:lstStyle/>
                    <a:p>
                      <a:r>
                        <a:rPr lang="en-GB"/>
                        <a:t>Within 1 km (squares)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41.5%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834132"/>
                  </a:ext>
                </a:extLst>
              </a:tr>
              <a:tr h="61334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Within 2 km (squares)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66.2%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90446"/>
                  </a:ext>
                </a:extLst>
              </a:tr>
              <a:tr h="613341">
                <a:tc>
                  <a:txBody>
                    <a:bodyPr/>
                    <a:lstStyle/>
                    <a:p>
                      <a:r>
                        <a:rPr lang="en-GB"/>
                        <a:t>Over 3 km (squares)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18.7%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001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45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83E1-530E-E18D-427A-6F1248A3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se">
            <a:extLst>
              <a:ext uri="{FF2B5EF4-FFF2-40B4-BE49-F238E27FC236}">
                <a16:creationId xmlns:a16="http://schemas.microsoft.com/office/drawing/2014/main" id="{8FD89B2A-72B5-9CAC-D811-7FC1909D0BFD}"/>
              </a:ext>
            </a:extLst>
          </p:cNvPr>
          <p:cNvSpPr>
            <a:spLocks noGrp="1"/>
          </p:cNvSpPr>
          <p:nvPr/>
        </p:nvSpPr>
        <p:spPr>
          <a:xfrm>
            <a:off x="0" y="112889"/>
            <a:ext cx="12192000" cy="6858000"/>
          </a:xfrm>
          <a:prstGeom prst="rect">
            <a:avLst/>
          </a:prstGeom>
          <a:solidFill>
            <a:srgbClr val="FAFBFC"/>
          </a:solidFill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ADA2925C-4BA5-3AB4-C828-7ED1244723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71ED667-52A3-02B7-458B-1D14A899983C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100965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>
                <a:solidFill>
                  <a:srgbClr val="172033"/>
                </a:solidFill>
                <a:ea typeface="+mn-lt"/>
                <a:cs typeface="+mn-lt"/>
              </a:rPr>
              <a:t>SP 5820 carries the heaviest accessibility burden</a:t>
            </a:r>
            <a:br>
              <a:rPr lang="en-US">
                <a:solidFill>
                  <a:srgbClr val="172033"/>
                </a:solidFill>
                <a:ea typeface="+mn-lt"/>
                <a:cs typeface="+mn-lt"/>
              </a:rPr>
            </a:br>
            <a:endParaRPr lang="en-US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1C800A3-8D9F-2003-2993-DD66EC090BE6}"/>
              </a:ext>
            </a:extLst>
          </p:cNvPr>
          <p:cNvSpPr>
            <a:spLocks noGrp="1"/>
          </p:cNvSpPr>
          <p:nvPr/>
        </p:nvSpPr>
        <p:spPr>
          <a:xfrm>
            <a:off x="514350" y="90678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Each CBS square is assigned to its nearest service point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DF508C1-DC5C-36D0-162A-FD93534E1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854687"/>
              </p:ext>
            </p:extLst>
          </p:nvPr>
        </p:nvGraphicFramePr>
        <p:xfrm>
          <a:off x="6275294" y="1284940"/>
          <a:ext cx="4273175" cy="19571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95294">
                  <a:extLst>
                    <a:ext uri="{9D8B030D-6E8A-4147-A177-3AD203B41FA5}">
                      <a16:colId xmlns:a16="http://schemas.microsoft.com/office/drawing/2014/main" val="3267130834"/>
                    </a:ext>
                  </a:extLst>
                </a:gridCol>
                <a:gridCol w="1045882">
                  <a:extLst>
                    <a:ext uri="{9D8B030D-6E8A-4147-A177-3AD203B41FA5}">
                      <a16:colId xmlns:a16="http://schemas.microsoft.com/office/drawing/2014/main" val="1769265561"/>
                    </a:ext>
                  </a:extLst>
                </a:gridCol>
                <a:gridCol w="1060823">
                  <a:extLst>
                    <a:ext uri="{9D8B030D-6E8A-4147-A177-3AD203B41FA5}">
                      <a16:colId xmlns:a16="http://schemas.microsoft.com/office/drawing/2014/main" val="3612124495"/>
                    </a:ext>
                  </a:extLst>
                </a:gridCol>
                <a:gridCol w="971176">
                  <a:extLst>
                    <a:ext uri="{9D8B030D-6E8A-4147-A177-3AD203B41FA5}">
                      <a16:colId xmlns:a16="http://schemas.microsoft.com/office/drawing/2014/main" val="701356356"/>
                    </a:ext>
                  </a:extLst>
                </a:gridCol>
              </a:tblGrid>
              <a:tr h="3261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Square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Population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Nearest SP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Distance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005788"/>
                  </a:ext>
                </a:extLst>
              </a:tr>
              <a:tr h="3261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E1800N3220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1,125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5820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4.20 km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902446"/>
                  </a:ext>
                </a:extLst>
              </a:tr>
              <a:tr h="3261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E1805N3215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1,115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5820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4.60 km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926519"/>
                  </a:ext>
                </a:extLst>
              </a:tr>
              <a:tr h="3261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E1805N3220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945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5820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4.59 km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980851"/>
                  </a:ext>
                </a:extLst>
              </a:tr>
              <a:tr h="3261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E1810N3215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815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5820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4.75 km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258077"/>
                  </a:ext>
                </a:extLst>
              </a:tr>
              <a:tr h="3261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E1800N3215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720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5820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0" i="0">
                          <a:solidFill>
                            <a:schemeClr val="tx1"/>
                          </a:solidFill>
                          <a:effectLst/>
                        </a:rPr>
                        <a:t>3.68 km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743400"/>
                  </a:ext>
                </a:extLst>
              </a:tr>
            </a:tbl>
          </a:graphicData>
        </a:graphic>
      </p:graphicFrame>
      <p:pic>
        <p:nvPicPr>
          <p:cNvPr id="19" name="Picture 1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486969F-DB30-E775-2E2E-998B71CB4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73" y="1411941"/>
            <a:ext cx="4979148" cy="4557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8FADFE-3B55-AFCA-DA1D-8968C0E88B84}"/>
              </a:ext>
            </a:extLst>
          </p:cNvPr>
          <p:cNvSpPr txBox="1"/>
          <p:nvPr/>
        </p:nvSpPr>
        <p:spPr>
          <a:xfrm>
            <a:off x="6303818" y="3688772"/>
            <a:ext cx="420831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SP 5820 serves squares up to 6.79 km away — the furthest in the network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Around 4,700 residents assigned to SP 5820 live more than 3 km away by road</a:t>
            </a:r>
            <a:endParaRPr lang="en-GB"/>
          </a:p>
          <a:p>
            <a:pPr marL="285750" indent="-285750">
              <a:buFont typeface="Arial"/>
              <a:buChar char="•"/>
            </a:pP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Long distances reduce pickup probability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340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se">
            <a:extLst>
              <a:ext uri="{FF2B5EF4-FFF2-40B4-BE49-F238E27FC236}">
                <a16:creationId xmlns:a16="http://schemas.microsoft.com/office/drawing/2014/main" id="{F97A622D-9543-48ED-9EF0-B4FEE841C7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CFC245BB-6C88-4094-ACB2-58EFC4112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829A54B-7477-460F-962F-CE98B0F6B5E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t>6. Cost and capacity translate EDA into business pressure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6119C76-742C-475A-BADC-427E80C2EEBD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lang="en-US" sz="1425" i="1">
                <a:solidFill>
                  <a:srgbClr val="526173"/>
                </a:solidFill>
                <a:latin typeface="Aptos"/>
              </a:rPr>
              <a:t>Translating parcel volumes and distances into euros and operational risk</a:t>
            </a:r>
          </a:p>
        </p:txBody>
      </p:sp>
      <p:sp>
        <p:nvSpPr>
          <p:cNvPr id="16" name="dot-1">
            <a:extLst>
              <a:ext uri="{FF2B5EF4-FFF2-40B4-BE49-F238E27FC236}">
                <a16:creationId xmlns:a16="http://schemas.microsoft.com/office/drawing/2014/main" id="{7B139926-FB98-44CD-9110-1171ADF16861}"/>
              </a:ext>
            </a:extLst>
          </p:cNvPr>
          <p:cNvSpPr/>
          <p:nvPr/>
        </p:nvSpPr>
        <p:spPr>
          <a:xfrm>
            <a:off x="520700" y="2012950"/>
            <a:ext cx="114300" cy="114300"/>
          </a:xfrm>
          <a:prstGeom prst="ellipse">
            <a:avLst/>
          </a:prstGeom>
          <a:solidFill>
            <a:srgbClr val="2A9D8F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bullet-text-1">
            <a:extLst>
              <a:ext uri="{FF2B5EF4-FFF2-40B4-BE49-F238E27FC236}">
                <a16:creationId xmlns:a16="http://schemas.microsoft.com/office/drawing/2014/main" id="{5415983C-5483-4D94-81C3-E5675ED45579}"/>
              </a:ext>
            </a:extLst>
          </p:cNvPr>
          <p:cNvSpPr txBox="1"/>
          <p:nvPr/>
        </p:nvSpPr>
        <p:spPr>
          <a:xfrm>
            <a:off x="749300" y="1905000"/>
            <a:ext cx="10934700" cy="33855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172033"/>
                </a:solidFill>
                <a:latin typeface="Aptos"/>
              </a:rPr>
              <a:t>The network runs 35 service points serving 1.35 million parcels per year at a total estimated cost of €2.55M annually</a:t>
            </a:r>
            <a:endParaRPr lang="de-DE" sz="160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8" name="dot-2">
            <a:extLst>
              <a:ext uri="{FF2B5EF4-FFF2-40B4-BE49-F238E27FC236}">
                <a16:creationId xmlns:a16="http://schemas.microsoft.com/office/drawing/2014/main" id="{E7AB4A33-26DD-479C-9E38-55A1D2DC440F}"/>
              </a:ext>
            </a:extLst>
          </p:cNvPr>
          <p:cNvSpPr/>
          <p:nvPr/>
        </p:nvSpPr>
        <p:spPr>
          <a:xfrm>
            <a:off x="520700" y="2630904"/>
            <a:ext cx="114300" cy="114300"/>
          </a:xfrm>
          <a:prstGeom prst="ellipse">
            <a:avLst/>
          </a:prstGeom>
          <a:solidFill>
            <a:srgbClr val="2A9D8F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bullet-text-2">
            <a:extLst>
              <a:ext uri="{FF2B5EF4-FFF2-40B4-BE49-F238E27FC236}">
                <a16:creationId xmlns:a16="http://schemas.microsoft.com/office/drawing/2014/main" id="{55F09858-3B6F-458C-BEFC-6D67A7FE51BF}"/>
              </a:ext>
            </a:extLst>
          </p:cNvPr>
          <p:cNvSpPr txBox="1"/>
          <p:nvPr/>
        </p:nvSpPr>
        <p:spPr>
          <a:xfrm>
            <a:off x="749300" y="2522954"/>
            <a:ext cx="10934700" cy="58477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172033"/>
                </a:solidFill>
                <a:latin typeface="Aptos"/>
              </a:rPr>
              <a:t>Fixed costs of €50,000 per service point dominate the budget at 69%, making the number of open locations the single biggest cost lever</a:t>
            </a:r>
            <a:endParaRPr lang="de-DE" sz="160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0" name="dot-3">
            <a:extLst>
              <a:ext uri="{FF2B5EF4-FFF2-40B4-BE49-F238E27FC236}">
                <a16:creationId xmlns:a16="http://schemas.microsoft.com/office/drawing/2014/main" id="{BB3730E1-1B6D-4843-8153-688007976A30}"/>
              </a:ext>
            </a:extLst>
          </p:cNvPr>
          <p:cNvSpPr/>
          <p:nvPr/>
        </p:nvSpPr>
        <p:spPr>
          <a:xfrm>
            <a:off x="520700" y="3495079"/>
            <a:ext cx="114300" cy="114300"/>
          </a:xfrm>
          <a:prstGeom prst="ellipse">
            <a:avLst/>
          </a:prstGeom>
          <a:solidFill>
            <a:srgbClr val="2A9D8F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bullet-text-3">
            <a:extLst>
              <a:ext uri="{FF2B5EF4-FFF2-40B4-BE49-F238E27FC236}">
                <a16:creationId xmlns:a16="http://schemas.microsoft.com/office/drawing/2014/main" id="{0D922604-6825-4488-9E27-1475EB6FEA3F}"/>
              </a:ext>
            </a:extLst>
          </p:cNvPr>
          <p:cNvSpPr txBox="1"/>
          <p:nvPr/>
        </p:nvSpPr>
        <p:spPr>
          <a:xfrm>
            <a:off x="749300" y="3387129"/>
            <a:ext cx="10934700" cy="58477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172033"/>
                </a:solidFill>
                <a:latin typeface="Aptos"/>
              </a:rPr>
              <a:t>Delivery cost varies by distance at €1.50 per km, concentrating cost pressure on service points with large or remote catchment areas</a:t>
            </a:r>
            <a:endParaRPr lang="de-DE" sz="160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2" name="dot-4">
            <a:extLst>
              <a:ext uri="{FF2B5EF4-FFF2-40B4-BE49-F238E27FC236}">
                <a16:creationId xmlns:a16="http://schemas.microsoft.com/office/drawing/2014/main" id="{1EE81C5C-44E8-44E7-A029-8733B2C90604}"/>
              </a:ext>
            </a:extLst>
          </p:cNvPr>
          <p:cNvSpPr/>
          <p:nvPr/>
        </p:nvSpPr>
        <p:spPr>
          <a:xfrm>
            <a:off x="520700" y="4359254"/>
            <a:ext cx="114300" cy="114300"/>
          </a:xfrm>
          <a:prstGeom prst="ellipse">
            <a:avLst/>
          </a:prstGeom>
          <a:solidFill>
            <a:srgbClr val="2A9D8F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3" name="bullet-text-4">
            <a:extLst>
              <a:ext uri="{FF2B5EF4-FFF2-40B4-BE49-F238E27FC236}">
                <a16:creationId xmlns:a16="http://schemas.microsoft.com/office/drawing/2014/main" id="{B8CDE665-7ABC-4E97-9040-5B31566EFB35}"/>
              </a:ext>
            </a:extLst>
          </p:cNvPr>
          <p:cNvSpPr txBox="1"/>
          <p:nvPr/>
        </p:nvSpPr>
        <p:spPr>
          <a:xfrm>
            <a:off x="749300" y="4251304"/>
            <a:ext cx="10934700" cy="58477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172033"/>
                </a:solidFill>
                <a:latin typeface="Aptos"/>
              </a:rPr>
              <a:t>Capacity risk is real but predictable — every service point regularly hits double its average daily pickup load, with the network peaking at 5,270 pickups on December 2nd</a:t>
            </a:r>
            <a:endParaRPr lang="de-DE" sz="1600">
              <a:solidFill>
                <a:srgbClr val="17203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80731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accent">
            <a:extLst>
              <a:ext uri="{FF2B5EF4-FFF2-40B4-BE49-F238E27FC236}">
                <a16:creationId xmlns:a16="http://schemas.microsoft.com/office/drawing/2014/main" id="{F0CA4B1F-6CC6-454D-891C-9F6065C91589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20700" y="406400"/>
            <a:ext cx="111633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300" b="1">
                <a:solidFill>
                  <a:srgbClr val="172033"/>
                </a:solidFill>
                <a:latin typeface="Aptos Display"/>
              </a:rPr>
              <a:t>Annual Cost Breakdown</a:t>
            </a:r>
          </a:p>
        </p:txBody>
      </p:sp>
      <p:pic>
        <p:nvPicPr>
          <p:cNvPr id="5" name="Image 0" descr="/mnt/user-data/uploads/p6_01_cost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072896"/>
            <a:ext cx="11338560" cy="4511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20" y="5705856"/>
            <a:ext cx="3779520" cy="999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7" name="Shape 4"/>
          <p:cNvSpPr/>
          <p:nvPr/>
        </p:nvSpPr>
        <p:spPr>
          <a:xfrm>
            <a:off x="426720" y="5705856"/>
            <a:ext cx="73152" cy="999744"/>
          </a:xfrm>
          <a:prstGeom prst="rect">
            <a:avLst/>
          </a:prstGeom>
          <a:solidFill>
            <a:srgbClr val="1A3E6A"/>
          </a:solidFill>
          <a:ln w="12700">
            <a:solidFill>
              <a:srgbClr val="1A3E6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8" name="Text 5"/>
          <p:cNvSpPr/>
          <p:nvPr/>
        </p:nvSpPr>
        <p:spPr>
          <a:xfrm>
            <a:off x="597408" y="5815584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Fixed costs dominate (69%)</a:t>
            </a:r>
            <a:endParaRPr lang="en-US" sz="1267"/>
          </a:p>
        </p:txBody>
      </p:sp>
      <p:sp>
        <p:nvSpPr>
          <p:cNvPr id="9" name="Text 6"/>
          <p:cNvSpPr/>
          <p:nvPr/>
        </p:nvSpPr>
        <p:spPr>
          <a:xfrm>
            <a:off x="597408" y="6169152"/>
            <a:ext cx="35356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€1.75M of the €2.55M total is locked in regardless of volume — just 35 SPs × €50k.</a:t>
            </a:r>
            <a:endParaRPr lang="en-US" sz="1067"/>
          </a:p>
        </p:txBody>
      </p:sp>
      <p:sp>
        <p:nvSpPr>
          <p:cNvPr id="10" name="Shape 7"/>
          <p:cNvSpPr/>
          <p:nvPr/>
        </p:nvSpPr>
        <p:spPr>
          <a:xfrm>
            <a:off x="4352544" y="5705856"/>
            <a:ext cx="3779520" cy="999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1" name="Shape 8"/>
          <p:cNvSpPr/>
          <p:nvPr/>
        </p:nvSpPr>
        <p:spPr>
          <a:xfrm>
            <a:off x="4352544" y="5705856"/>
            <a:ext cx="73152" cy="999744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2" name="Text 9"/>
          <p:cNvSpPr/>
          <p:nvPr/>
        </p:nvSpPr>
        <p:spPr>
          <a:xfrm>
            <a:off x="4523232" y="5815584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SP 5820 — cost outlier</a:t>
            </a:r>
            <a:endParaRPr lang="en-US" sz="1267"/>
          </a:p>
        </p:txBody>
      </p:sp>
      <p:sp>
        <p:nvSpPr>
          <p:cNvPr id="13" name="Text 10"/>
          <p:cNvSpPr/>
          <p:nvPr/>
        </p:nvSpPr>
        <p:spPr>
          <a:xfrm>
            <a:off x="4523232" y="6169152"/>
            <a:ext cx="35356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2.47 km avg delivery distance → €237k/yr delivery cost alone vs. €6k network median.</a:t>
            </a:r>
            <a:endParaRPr lang="en-US" sz="1067"/>
          </a:p>
        </p:txBody>
      </p:sp>
      <p:sp>
        <p:nvSpPr>
          <p:cNvPr id="14" name="Shape 11"/>
          <p:cNvSpPr/>
          <p:nvPr/>
        </p:nvSpPr>
        <p:spPr>
          <a:xfrm>
            <a:off x="8278368" y="5705856"/>
            <a:ext cx="3779520" cy="999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5" name="Shape 12"/>
          <p:cNvSpPr/>
          <p:nvPr/>
        </p:nvSpPr>
        <p:spPr>
          <a:xfrm>
            <a:off x="8278368" y="5705856"/>
            <a:ext cx="73152" cy="999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6" name="Text 13"/>
          <p:cNvSpPr/>
          <p:nvPr/>
        </p:nvSpPr>
        <p:spPr>
          <a:xfrm>
            <a:off x="8449056" y="5815584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Pickup saves €670k/yr</a:t>
            </a:r>
            <a:endParaRPr lang="en-US" sz="1267"/>
          </a:p>
        </p:txBody>
      </p:sp>
      <p:sp>
        <p:nvSpPr>
          <p:cNvPr id="17" name="Text 14"/>
          <p:cNvSpPr/>
          <p:nvPr/>
        </p:nvSpPr>
        <p:spPr>
          <a:xfrm>
            <a:off x="8449056" y="6169152"/>
            <a:ext cx="35356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Each pickup avoids €1.01 in delivery cost but adds only €0.20 in storage — a net €0.81 saving.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828373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accent">
            <a:extLst>
              <a:ext uri="{FF2B5EF4-FFF2-40B4-BE49-F238E27FC236}">
                <a16:creationId xmlns:a16="http://schemas.microsoft.com/office/drawing/2014/main" id="{C838A7F1-2DC1-4A26-BBB9-930A6BA6AE77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20700" y="406400"/>
            <a:ext cx="111633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300" b="1">
                <a:solidFill>
                  <a:srgbClr val="172033"/>
                </a:solidFill>
                <a:latin typeface="Aptos Display"/>
              </a:rPr>
              <a:t>Delivery Cost Drivers</a:t>
            </a:r>
          </a:p>
        </p:txBody>
      </p:sp>
      <p:pic>
        <p:nvPicPr>
          <p:cNvPr id="5" name="Image 0" descr="/mnt/user-data/uploads/p6_02_cost_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072896"/>
            <a:ext cx="1133856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20" y="5218176"/>
            <a:ext cx="2657856" cy="1072896"/>
          </a:xfrm>
          <a:prstGeom prst="rect">
            <a:avLst/>
          </a:prstGeom>
          <a:solidFill>
            <a:srgbClr val="E8603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7" name="Text 4"/>
          <p:cNvSpPr/>
          <p:nvPr/>
        </p:nvSpPr>
        <p:spPr>
          <a:xfrm>
            <a:off x="426720" y="5315712"/>
            <a:ext cx="2657856" cy="5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€49.83</a:t>
            </a:r>
            <a:endParaRPr lang="en-US" sz="3467"/>
          </a:p>
        </p:txBody>
      </p:sp>
      <p:sp>
        <p:nvSpPr>
          <p:cNvPr id="8" name="Text 5"/>
          <p:cNvSpPr/>
          <p:nvPr/>
        </p:nvSpPr>
        <p:spPr>
          <a:xfrm>
            <a:off x="426720" y="5840456"/>
            <a:ext cx="2657856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>
                <a:solidFill>
                  <a:srgbClr val="FFFFFF"/>
                </a:solidFill>
              </a:rPr>
              <a:t>Cost/parcel</a:t>
            </a:r>
            <a:endParaRPr lang="en-US" sz="1133"/>
          </a:p>
          <a:p>
            <a:pPr marL="0" indent="0" algn="ctr">
              <a:buNone/>
            </a:pPr>
            <a:r>
              <a:rPr lang="en-US" sz="1133">
                <a:solidFill>
                  <a:srgbClr val="FFFFFF"/>
                </a:solidFill>
              </a:rPr>
              <a:t>(SP 7422)</a:t>
            </a:r>
            <a:endParaRPr lang="en-US" sz="1133"/>
          </a:p>
        </p:txBody>
      </p:sp>
      <p:sp>
        <p:nvSpPr>
          <p:cNvPr id="9" name="Shape 6"/>
          <p:cNvSpPr/>
          <p:nvPr/>
        </p:nvSpPr>
        <p:spPr>
          <a:xfrm>
            <a:off x="3279648" y="5218176"/>
            <a:ext cx="2657856" cy="1072896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0" name="Text 7"/>
          <p:cNvSpPr/>
          <p:nvPr/>
        </p:nvSpPr>
        <p:spPr>
          <a:xfrm>
            <a:off x="3279648" y="5315712"/>
            <a:ext cx="2657856" cy="5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€0.68</a:t>
            </a:r>
            <a:endParaRPr lang="en-US" sz="3467"/>
          </a:p>
        </p:txBody>
      </p:sp>
      <p:sp>
        <p:nvSpPr>
          <p:cNvPr id="11" name="Text 8"/>
          <p:cNvSpPr/>
          <p:nvPr/>
        </p:nvSpPr>
        <p:spPr>
          <a:xfrm>
            <a:off x="3279648" y="5840456"/>
            <a:ext cx="2657856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>
                <a:solidFill>
                  <a:srgbClr val="FFFFFF"/>
                </a:solidFill>
              </a:rPr>
              <a:t>Cost/parcel</a:t>
            </a:r>
            <a:endParaRPr lang="en-US" sz="1133"/>
          </a:p>
          <a:p>
            <a:pPr marL="0" indent="0" algn="ctr">
              <a:buNone/>
            </a:pPr>
            <a:r>
              <a:rPr lang="en-US" sz="1133">
                <a:solidFill>
                  <a:srgbClr val="FFFFFF"/>
                </a:solidFill>
              </a:rPr>
              <a:t>(SP 4440)</a:t>
            </a:r>
            <a:endParaRPr lang="en-US" sz="1133"/>
          </a:p>
        </p:txBody>
      </p:sp>
      <p:sp>
        <p:nvSpPr>
          <p:cNvPr id="12" name="Shape 9"/>
          <p:cNvSpPr/>
          <p:nvPr/>
        </p:nvSpPr>
        <p:spPr>
          <a:xfrm>
            <a:off x="6132576" y="5218176"/>
            <a:ext cx="2657856" cy="1072896"/>
          </a:xfrm>
          <a:prstGeom prst="rect">
            <a:avLst/>
          </a:prstGeom>
          <a:solidFill>
            <a:srgbClr val="1A3E6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3" name="Text 10"/>
          <p:cNvSpPr/>
          <p:nvPr/>
        </p:nvSpPr>
        <p:spPr>
          <a:xfrm>
            <a:off x="6132576" y="5315712"/>
            <a:ext cx="2657856" cy="5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€4.62</a:t>
            </a:r>
            <a:endParaRPr lang="en-US" sz="3467"/>
          </a:p>
        </p:txBody>
      </p:sp>
      <p:sp>
        <p:nvSpPr>
          <p:cNvPr id="14" name="Text 11"/>
          <p:cNvSpPr/>
          <p:nvPr/>
        </p:nvSpPr>
        <p:spPr>
          <a:xfrm>
            <a:off x="6132576" y="5840456"/>
            <a:ext cx="2657856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>
                <a:solidFill>
                  <a:srgbClr val="FFFFFF"/>
                </a:solidFill>
              </a:rPr>
              <a:t>Network avg</a:t>
            </a:r>
            <a:endParaRPr lang="en-US" sz="1133"/>
          </a:p>
          <a:p>
            <a:pPr marL="0" indent="0" algn="ctr">
              <a:buNone/>
            </a:pPr>
            <a:r>
              <a:rPr lang="en-US" sz="1133">
                <a:solidFill>
                  <a:srgbClr val="FFFFFF"/>
                </a:solidFill>
              </a:rPr>
              <a:t>cost/parcel</a:t>
            </a:r>
            <a:endParaRPr lang="en-US" sz="1133"/>
          </a:p>
        </p:txBody>
      </p:sp>
      <p:sp>
        <p:nvSpPr>
          <p:cNvPr id="15" name="Shape 12"/>
          <p:cNvSpPr/>
          <p:nvPr/>
        </p:nvSpPr>
        <p:spPr>
          <a:xfrm>
            <a:off x="8985504" y="5218176"/>
            <a:ext cx="2657856" cy="1072896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6" name="Text 13"/>
          <p:cNvSpPr/>
          <p:nvPr/>
        </p:nvSpPr>
        <p:spPr>
          <a:xfrm>
            <a:off x="8985504" y="5315712"/>
            <a:ext cx="2657856" cy="5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2.47 km</a:t>
            </a:r>
            <a:endParaRPr lang="en-US" sz="3467"/>
          </a:p>
        </p:txBody>
      </p:sp>
      <p:sp>
        <p:nvSpPr>
          <p:cNvPr id="17" name="Text 14"/>
          <p:cNvSpPr/>
          <p:nvPr/>
        </p:nvSpPr>
        <p:spPr>
          <a:xfrm>
            <a:off x="8985504" y="5840456"/>
            <a:ext cx="2657856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>
                <a:solidFill>
                  <a:srgbClr val="FFFFFF"/>
                </a:solidFill>
              </a:rPr>
              <a:t>SP 5820 avg</a:t>
            </a:r>
            <a:endParaRPr lang="en-US" sz="1133"/>
          </a:p>
          <a:p>
            <a:pPr marL="0" indent="0" algn="ctr">
              <a:buNone/>
            </a:pPr>
            <a:r>
              <a:rPr lang="en-US" sz="1133">
                <a:solidFill>
                  <a:srgbClr val="FFFFFF"/>
                </a:solidFill>
              </a:rPr>
              <a:t>delivery dist</a:t>
            </a:r>
            <a:endParaRPr lang="en-US" sz="1133"/>
          </a:p>
        </p:txBody>
      </p:sp>
      <p:sp>
        <p:nvSpPr>
          <p:cNvPr id="18" name="Text 15"/>
          <p:cNvSpPr/>
          <p:nvPr/>
        </p:nvSpPr>
        <p:spPr>
          <a:xfrm>
            <a:off x="426720" y="6339840"/>
            <a:ext cx="11338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i="1">
                <a:solidFill>
                  <a:srgbClr val="64748B"/>
                </a:solidFill>
              </a:rPr>
              <a:t>SP 7422 handles only ~1,000 parcels/year — the €50k fixed cost alone works out to €48.94/parcel, making it the primary closure candidate.</a:t>
            </a:r>
            <a:endParaRPr lang="en-US" sz="1133"/>
          </a:p>
        </p:txBody>
      </p:sp>
    </p:spTree>
    <p:extLst>
      <p:ext uri="{BB962C8B-B14F-4D97-AF65-F5344CB8AC3E}">
        <p14:creationId xmlns:p14="http://schemas.microsoft.com/office/powerpoint/2010/main" val="1123775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accent">
            <a:extLst>
              <a:ext uri="{FF2B5EF4-FFF2-40B4-BE49-F238E27FC236}">
                <a16:creationId xmlns:a16="http://schemas.microsoft.com/office/drawing/2014/main" id="{1F074C7B-EA42-4713-8529-1F1BAA00CF09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20700" y="406400"/>
            <a:ext cx="111633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300" b="1">
                <a:solidFill>
                  <a:srgbClr val="172033"/>
                </a:solidFill>
                <a:latin typeface="Aptos Display"/>
              </a:rPr>
              <a:t>Capacity Pressure per Service Point</a:t>
            </a:r>
          </a:p>
        </p:txBody>
      </p:sp>
      <p:pic>
        <p:nvPicPr>
          <p:cNvPr id="5" name="Image 0" descr="/mnt/user-data/uploads/p6_03_capacity_pres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072896"/>
            <a:ext cx="11338560" cy="404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20" y="5218176"/>
            <a:ext cx="37795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7" name="Shape 4"/>
          <p:cNvSpPr/>
          <p:nvPr/>
        </p:nvSpPr>
        <p:spPr>
          <a:xfrm>
            <a:off x="426720" y="5218176"/>
            <a:ext cx="73152" cy="152400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8" name="Text 5"/>
          <p:cNvSpPr/>
          <p:nvPr/>
        </p:nvSpPr>
        <p:spPr>
          <a:xfrm>
            <a:off x="597408" y="5327904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SP 4440 — clear hotspot</a:t>
            </a:r>
            <a:endParaRPr lang="en-US" sz="1267"/>
          </a:p>
        </p:txBody>
      </p:sp>
      <p:sp>
        <p:nvSpPr>
          <p:cNvPr id="9" name="Text 6"/>
          <p:cNvSpPr/>
          <p:nvPr/>
        </p:nvSpPr>
        <p:spPr>
          <a:xfrm>
            <a:off x="597408" y="5681472"/>
            <a:ext cx="3535680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298 avg pickups/day, peaking at 688. On its worst day it handles 2.3× its typical load.</a:t>
            </a:r>
            <a:endParaRPr lang="en-US" sz="1067"/>
          </a:p>
        </p:txBody>
      </p:sp>
      <p:sp>
        <p:nvSpPr>
          <p:cNvPr id="10" name="Shape 7"/>
          <p:cNvSpPr/>
          <p:nvPr/>
        </p:nvSpPr>
        <p:spPr>
          <a:xfrm>
            <a:off x="4352544" y="5218176"/>
            <a:ext cx="37795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1" name="Shape 8"/>
          <p:cNvSpPr/>
          <p:nvPr/>
        </p:nvSpPr>
        <p:spPr>
          <a:xfrm>
            <a:off x="4352544" y="5218176"/>
            <a:ext cx="73152" cy="1524000"/>
          </a:xfrm>
          <a:prstGeom prst="rect">
            <a:avLst/>
          </a:prstGeom>
          <a:solidFill>
            <a:srgbClr val="1A3E6A"/>
          </a:solidFill>
          <a:ln w="12700">
            <a:solidFill>
              <a:srgbClr val="1A3E6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2" name="Text 9"/>
          <p:cNvSpPr/>
          <p:nvPr/>
        </p:nvSpPr>
        <p:spPr>
          <a:xfrm>
            <a:off x="4523232" y="5327904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All SPs exceed 2× peak ratio</a:t>
            </a:r>
            <a:endParaRPr lang="en-US" sz="1267"/>
          </a:p>
        </p:txBody>
      </p:sp>
      <p:sp>
        <p:nvSpPr>
          <p:cNvPr id="13" name="Text 10"/>
          <p:cNvSpPr/>
          <p:nvPr/>
        </p:nvSpPr>
        <p:spPr>
          <a:xfrm>
            <a:off x="4523232" y="5681472"/>
            <a:ext cx="3535680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Every single SP in the network regularly experiences days at double its average — no location is immune to spikes.</a:t>
            </a:r>
            <a:endParaRPr lang="en-US" sz="1067"/>
          </a:p>
        </p:txBody>
      </p:sp>
      <p:sp>
        <p:nvSpPr>
          <p:cNvPr id="14" name="Shape 11"/>
          <p:cNvSpPr/>
          <p:nvPr/>
        </p:nvSpPr>
        <p:spPr>
          <a:xfrm>
            <a:off x="8278368" y="5218176"/>
            <a:ext cx="37795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5" name="Shape 12"/>
          <p:cNvSpPr/>
          <p:nvPr/>
        </p:nvSpPr>
        <p:spPr>
          <a:xfrm>
            <a:off x="8278368" y="5218176"/>
            <a:ext cx="73152" cy="1524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6" name="Text 13"/>
          <p:cNvSpPr/>
          <p:nvPr/>
        </p:nvSpPr>
        <p:spPr>
          <a:xfrm>
            <a:off x="8449056" y="5327904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Medium-risk: 4 SPs</a:t>
            </a:r>
            <a:endParaRPr lang="en-US" sz="1267"/>
          </a:p>
        </p:txBody>
      </p:sp>
      <p:sp>
        <p:nvSpPr>
          <p:cNvPr id="17" name="Text 14"/>
          <p:cNvSpPr/>
          <p:nvPr/>
        </p:nvSpPr>
        <p:spPr>
          <a:xfrm>
            <a:off x="8449056" y="5681472"/>
            <a:ext cx="3535680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SP 4440, 7229, 1739, and 7422 are the four medium-risk SPs. None yet reach High, but 4440 and 7422 are closest.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563737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accent">
            <a:extLst>
              <a:ext uri="{FF2B5EF4-FFF2-40B4-BE49-F238E27FC236}">
                <a16:creationId xmlns:a16="http://schemas.microsoft.com/office/drawing/2014/main" id="{BADCEE86-672C-465A-B008-8C28AC9756E2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20700" y="406400"/>
            <a:ext cx="111633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300" b="1">
                <a:solidFill>
                  <a:srgbClr val="172033"/>
                </a:solidFill>
                <a:latin typeface="Aptos Display"/>
              </a:rPr>
              <a:t>Daily Load &amp; Weekday Patterns</a:t>
            </a:r>
          </a:p>
        </p:txBody>
      </p:sp>
      <p:pic>
        <p:nvPicPr>
          <p:cNvPr id="5" name="Image 0" descr="/mnt/user-data/uploads/p6_04_daily_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097280"/>
            <a:ext cx="11338560" cy="3230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20" y="4486656"/>
            <a:ext cx="5608320" cy="1072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7" name="Shape 4"/>
          <p:cNvSpPr/>
          <p:nvPr/>
        </p:nvSpPr>
        <p:spPr>
          <a:xfrm>
            <a:off x="426720" y="4486656"/>
            <a:ext cx="73152" cy="1072896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8" name="Text 5"/>
          <p:cNvSpPr/>
          <p:nvPr/>
        </p:nvSpPr>
        <p:spPr>
          <a:xfrm>
            <a:off x="597408" y="4596384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December peak: ×2.2 avg</a:t>
            </a:r>
            <a:endParaRPr lang="en-US" sz="1267"/>
          </a:p>
        </p:txBody>
      </p:sp>
      <p:sp>
        <p:nvSpPr>
          <p:cNvPr id="9" name="Text 6"/>
          <p:cNvSpPr/>
          <p:nvPr/>
        </p:nvSpPr>
        <p:spPr>
          <a:xfrm>
            <a:off x="597408" y="4949952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Network hit 5,270 pickups on Dec 2 — more than double the annual daily average of 2,382. Holiday capacity needs a 2× buffer.</a:t>
            </a:r>
            <a:endParaRPr lang="en-US" sz="1067"/>
          </a:p>
        </p:txBody>
      </p:sp>
      <p:sp>
        <p:nvSpPr>
          <p:cNvPr id="10" name="Shape 7"/>
          <p:cNvSpPr/>
          <p:nvPr/>
        </p:nvSpPr>
        <p:spPr>
          <a:xfrm>
            <a:off x="6303264" y="4486656"/>
            <a:ext cx="5608320" cy="1072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1" name="Shape 8"/>
          <p:cNvSpPr/>
          <p:nvPr/>
        </p:nvSpPr>
        <p:spPr>
          <a:xfrm>
            <a:off x="6303264" y="4486656"/>
            <a:ext cx="73152" cy="1072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2" name="Text 9"/>
          <p:cNvSpPr/>
          <p:nvPr/>
        </p:nvSpPr>
        <p:spPr>
          <a:xfrm>
            <a:off x="6473952" y="4596384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Tuesday is the busiest day</a:t>
            </a:r>
            <a:endParaRPr lang="en-US" sz="1267"/>
          </a:p>
        </p:txBody>
      </p:sp>
      <p:sp>
        <p:nvSpPr>
          <p:cNvPr id="13" name="Text 10"/>
          <p:cNvSpPr/>
          <p:nvPr/>
        </p:nvSpPr>
        <p:spPr>
          <a:xfrm>
            <a:off x="6473952" y="4949952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97 avg pickups/SP — 27% above mid-week. Weekend online orders arrive Monday and are collected Tuesday.</a:t>
            </a:r>
            <a:endParaRPr lang="en-US" sz="1067"/>
          </a:p>
        </p:txBody>
      </p:sp>
      <p:sp>
        <p:nvSpPr>
          <p:cNvPr id="14" name="Shape 11"/>
          <p:cNvSpPr/>
          <p:nvPr/>
        </p:nvSpPr>
        <p:spPr>
          <a:xfrm>
            <a:off x="426720" y="5705856"/>
            <a:ext cx="5608320" cy="1072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5" name="Shape 12"/>
          <p:cNvSpPr/>
          <p:nvPr/>
        </p:nvSpPr>
        <p:spPr>
          <a:xfrm>
            <a:off x="426720" y="5705856"/>
            <a:ext cx="73152" cy="1072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6" name="Text 13"/>
          <p:cNvSpPr/>
          <p:nvPr/>
        </p:nvSpPr>
        <p:spPr>
          <a:xfrm>
            <a:off x="597408" y="5815584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Sunday = zero (closed)</a:t>
            </a:r>
            <a:endParaRPr lang="en-US" sz="1267"/>
          </a:p>
        </p:txBody>
      </p:sp>
      <p:sp>
        <p:nvSpPr>
          <p:cNvPr id="17" name="Text 14"/>
          <p:cNvSpPr/>
          <p:nvPr/>
        </p:nvSpPr>
        <p:spPr>
          <a:xfrm>
            <a:off x="597408" y="6169152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All 35 SPs are closed on Sundays. The zero bar is correct — no data issue. This creates a Monday build-up effect.</a:t>
            </a:r>
            <a:endParaRPr lang="en-US" sz="1067"/>
          </a:p>
        </p:txBody>
      </p:sp>
      <p:sp>
        <p:nvSpPr>
          <p:cNvPr id="18" name="Shape 15"/>
          <p:cNvSpPr/>
          <p:nvPr/>
        </p:nvSpPr>
        <p:spPr>
          <a:xfrm>
            <a:off x="6303264" y="5705856"/>
            <a:ext cx="5608320" cy="1072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9" name="Shape 16"/>
          <p:cNvSpPr/>
          <p:nvPr/>
        </p:nvSpPr>
        <p:spPr>
          <a:xfrm>
            <a:off x="6303264" y="5705856"/>
            <a:ext cx="73152" cy="1072896"/>
          </a:xfrm>
          <a:prstGeom prst="rect">
            <a:avLst/>
          </a:prstGeom>
          <a:solidFill>
            <a:srgbClr val="1A3E6A"/>
          </a:solidFill>
          <a:ln w="12700">
            <a:solidFill>
              <a:srgbClr val="1A3E6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20" name="Text 17"/>
          <p:cNvSpPr/>
          <p:nvPr/>
        </p:nvSpPr>
        <p:spPr>
          <a:xfrm>
            <a:off x="6473952" y="5815584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b="1">
                <a:solidFill>
                  <a:srgbClr val="1A3E6A"/>
                </a:solidFill>
              </a:rPr>
              <a:t>Stable weekly rhythm</a:t>
            </a:r>
            <a:endParaRPr lang="en-US" sz="1267"/>
          </a:p>
        </p:txBody>
      </p:sp>
      <p:sp>
        <p:nvSpPr>
          <p:cNvPr id="21" name="Text 18"/>
          <p:cNvSpPr/>
          <p:nvPr/>
        </p:nvSpPr>
        <p:spPr>
          <a:xfrm>
            <a:off x="6473952" y="6169152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The weekly cycle is highly consistent year-round. Demand is predictable outside December, which makes capacity planning straightforward.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632167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accent">
            <a:extLst>
              <a:ext uri="{FF2B5EF4-FFF2-40B4-BE49-F238E27FC236}">
                <a16:creationId xmlns:a16="http://schemas.microsoft.com/office/drawing/2014/main" id="{D2C0A4C7-F8CE-418D-B15F-0530E1973F6B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20700" y="406400"/>
            <a:ext cx="111633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300" b="1" dirty="0">
                <a:solidFill>
                  <a:srgbClr val="172033"/>
                </a:solidFill>
                <a:latin typeface="Aptos Display"/>
              </a:rPr>
              <a:t>Bounce-Risk Ranking </a:t>
            </a:r>
            <a:r>
              <a:rPr lang="ru-RU" sz="3300" b="1" dirty="0">
                <a:solidFill>
                  <a:srgbClr val="172033"/>
                </a:solidFill>
                <a:latin typeface="Aptos Display"/>
              </a:rPr>
              <a:t>-</a:t>
            </a:r>
            <a:r>
              <a:rPr lang="en-US" sz="3300" b="1" dirty="0">
                <a:solidFill>
                  <a:srgbClr val="172033"/>
                </a:solidFill>
                <a:latin typeface="Aptos Display"/>
              </a:rPr>
              <a:t> All 35 Service Points</a:t>
            </a:r>
          </a:p>
        </p:txBody>
      </p:sp>
      <p:pic>
        <p:nvPicPr>
          <p:cNvPr id="5" name="Image 0" descr="/mnt/user-data/uploads/p6_05_bounce_risk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2896"/>
            <a:ext cx="6217920" cy="5205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15824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3E6A"/>
                </a:solidFill>
              </a:rPr>
              <a:t>Score Components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6949440" y="1706880"/>
            <a:ext cx="487680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8" name="Shape 5"/>
          <p:cNvSpPr/>
          <p:nvPr/>
        </p:nvSpPr>
        <p:spPr>
          <a:xfrm>
            <a:off x="6949440" y="1706880"/>
            <a:ext cx="73152" cy="950976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" name="Text 6"/>
          <p:cNvSpPr/>
          <p:nvPr/>
        </p:nvSpPr>
        <p:spPr>
          <a:xfrm>
            <a:off x="7071360" y="1780032"/>
            <a:ext cx="70713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rgbClr val="E8603C"/>
                </a:solidFill>
              </a:rPr>
              <a:t>50%</a:t>
            </a:r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7802880" y="1780032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3E6A"/>
                </a:solidFill>
              </a:rPr>
              <a:t>Volume</a:t>
            </a:r>
            <a:endParaRPr lang="en-US" sz="1467"/>
          </a:p>
        </p:txBody>
      </p:sp>
      <p:sp>
        <p:nvSpPr>
          <p:cNvPr id="11" name="Text 8"/>
          <p:cNvSpPr/>
          <p:nvPr/>
        </p:nvSpPr>
        <p:spPr>
          <a:xfrm>
            <a:off x="7802880" y="2170176"/>
            <a:ext cx="3901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Avg daily pickups — high load = high risk</a:t>
            </a:r>
            <a:endParaRPr lang="en-US" sz="1067"/>
          </a:p>
        </p:txBody>
      </p:sp>
      <p:sp>
        <p:nvSpPr>
          <p:cNvPr id="12" name="Shape 9"/>
          <p:cNvSpPr/>
          <p:nvPr/>
        </p:nvSpPr>
        <p:spPr>
          <a:xfrm>
            <a:off x="6949440" y="2804160"/>
            <a:ext cx="487680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3" name="Shape 10"/>
          <p:cNvSpPr/>
          <p:nvPr/>
        </p:nvSpPr>
        <p:spPr>
          <a:xfrm>
            <a:off x="6949440" y="2804160"/>
            <a:ext cx="73152" cy="950976"/>
          </a:xfrm>
          <a:prstGeom prst="rect">
            <a:avLst/>
          </a:prstGeom>
          <a:solidFill>
            <a:srgbClr val="1A3E6A"/>
          </a:solidFill>
          <a:ln w="12700">
            <a:solidFill>
              <a:srgbClr val="1A3E6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4" name="Text 11"/>
          <p:cNvSpPr/>
          <p:nvPr/>
        </p:nvSpPr>
        <p:spPr>
          <a:xfrm>
            <a:off x="7071360" y="2877312"/>
            <a:ext cx="70713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rgbClr val="1A3E6A"/>
                </a:solidFill>
              </a:rPr>
              <a:t>30%</a:t>
            </a:r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7802880" y="2877312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3E6A"/>
                </a:solidFill>
              </a:rPr>
              <a:t>Spikiness</a:t>
            </a:r>
            <a:endParaRPr lang="en-US" sz="1467"/>
          </a:p>
        </p:txBody>
      </p:sp>
      <p:sp>
        <p:nvSpPr>
          <p:cNvPr id="16" name="Text 13"/>
          <p:cNvSpPr/>
          <p:nvPr/>
        </p:nvSpPr>
        <p:spPr>
          <a:xfrm>
            <a:off x="7802880" y="3267456"/>
            <a:ext cx="3901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Peak ÷ average ratio — unpredictable surges</a:t>
            </a:r>
            <a:endParaRPr lang="en-US" sz="1067"/>
          </a:p>
        </p:txBody>
      </p:sp>
      <p:sp>
        <p:nvSpPr>
          <p:cNvPr id="17" name="Shape 14"/>
          <p:cNvSpPr/>
          <p:nvPr/>
        </p:nvSpPr>
        <p:spPr>
          <a:xfrm>
            <a:off x="6949440" y="3901440"/>
            <a:ext cx="4876800" cy="9509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8" name="Shape 15"/>
          <p:cNvSpPr/>
          <p:nvPr/>
        </p:nvSpPr>
        <p:spPr>
          <a:xfrm>
            <a:off x="6949440" y="3901440"/>
            <a:ext cx="73152" cy="9509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9" name="Text 16"/>
          <p:cNvSpPr/>
          <p:nvPr/>
        </p:nvSpPr>
        <p:spPr>
          <a:xfrm>
            <a:off x="7071360" y="3974592"/>
            <a:ext cx="70713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rgbClr val="F5A623"/>
                </a:solidFill>
              </a:rPr>
              <a:t>20%</a:t>
            </a:r>
            <a:endParaRPr lang="en-US" sz="2400"/>
          </a:p>
        </p:txBody>
      </p:sp>
      <p:sp>
        <p:nvSpPr>
          <p:cNvPr id="20" name="Text 17"/>
          <p:cNvSpPr/>
          <p:nvPr/>
        </p:nvSpPr>
        <p:spPr>
          <a:xfrm>
            <a:off x="7802880" y="3974592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A3E6A"/>
                </a:solidFill>
              </a:rPr>
              <a:t>Variability</a:t>
            </a:r>
            <a:endParaRPr lang="en-US" sz="1467"/>
          </a:p>
        </p:txBody>
      </p:sp>
      <p:sp>
        <p:nvSpPr>
          <p:cNvPr id="21" name="Text 18"/>
          <p:cNvSpPr/>
          <p:nvPr/>
        </p:nvSpPr>
        <p:spPr>
          <a:xfrm>
            <a:off x="7802880" y="4364736"/>
            <a:ext cx="3901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64748B"/>
                </a:solidFill>
              </a:rPr>
              <a:t>Coefficient of variation — erratic patterns</a:t>
            </a:r>
            <a:endParaRPr lang="en-US" sz="1067"/>
          </a:p>
        </p:txBody>
      </p:sp>
      <p:sp>
        <p:nvSpPr>
          <p:cNvPr id="22" name="Shape 19"/>
          <p:cNvSpPr/>
          <p:nvPr/>
        </p:nvSpPr>
        <p:spPr>
          <a:xfrm>
            <a:off x="6949440" y="5096256"/>
            <a:ext cx="4876800" cy="755904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23" name="Text 20"/>
          <p:cNvSpPr/>
          <p:nvPr/>
        </p:nvSpPr>
        <p:spPr>
          <a:xfrm>
            <a:off x="7120128" y="5132832"/>
            <a:ext cx="4535424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92400E"/>
                </a:solidFill>
              </a:rPr>
              <a:t>⚠  SP 7422: CV=0.97, peak ratio=4.69 — statistically extreme but only ~1 pkg/day average. Scores Medium due to variability despite near-zero volume.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44667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ase">
            <a:extLst>
              <a:ext uri="{FF2B5EF4-FFF2-40B4-BE49-F238E27FC236}">
                <a16:creationId xmlns:a16="http://schemas.microsoft.com/office/drawing/2014/main" id="{12491339-5D0B-49E7-9BF9-040AE090AB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NL"/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103B0C76-5A75-441F-95E9-3137FECA8E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7191C"/>
          </a:solidFill>
        </p:spPr>
        <p:txBody>
          <a:bodyPr/>
          <a:lstStyle/>
          <a:p>
            <a:endParaRPr lang="en-NL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286F8BB-811D-4C36-8C6A-77ACEEDC3BE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t>EDA takeaways for the milestone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1A10F145-4908-48BC-9B92-6D15A6E3065C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1163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t>The six workstreams create one modelling foundation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525DEA-E73C-4817-89F6-A96B390CF671}"/>
              </a:ext>
            </a:extLst>
          </p:cNvPr>
          <p:cNvSpPr>
            <a:spLocks noGrp="1"/>
          </p:cNvSpPr>
          <p:nvPr/>
        </p:nvSpPr>
        <p:spPr>
          <a:xfrm>
            <a:off x="514350" y="1367790"/>
            <a:ext cx="3606800" cy="1992630"/>
          </a:xfrm>
          <a:prstGeom prst="roundRect">
            <a:avLst>
              <a:gd name="adj" fmla="val 3824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5E8296-4FD5-4173-80B7-B5174ABEF515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181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CF8729-39FF-4DF1-BA24-1AF2DFF7D769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31813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</a:defRPr>
            </a:pPr>
            <a:r>
              <a:t>Maastricht generates about 3,704 parcel movements per day, with pickups representing 64.3% of activity.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31AE9E-4F8A-43D1-8CEE-2A52F7EE2289}"/>
              </a:ext>
            </a:extLst>
          </p:cNvPr>
          <p:cNvSpPr>
            <a:spLocks noGrp="1"/>
          </p:cNvSpPr>
          <p:nvPr/>
        </p:nvSpPr>
        <p:spPr>
          <a:xfrm>
            <a:off x="4292600" y="1367790"/>
            <a:ext cx="3606800" cy="1992630"/>
          </a:xfrm>
          <a:prstGeom prst="roundRect">
            <a:avLst>
              <a:gd name="adj" fmla="val 3824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F881CC-82AE-426A-BCAC-2768EE9CD902}"/>
              </a:ext>
            </a:extLst>
          </p:cNvPr>
          <p:cNvSpPr>
            <a:spLocks noGrp="1"/>
          </p:cNvSpPr>
          <p:nvPr/>
        </p:nvSpPr>
        <p:spPr>
          <a:xfrm>
            <a:off x="4495800" y="1581150"/>
            <a:ext cx="3181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78C5FE-0A9A-475C-8D59-339720258667}"/>
              </a:ext>
            </a:extLst>
          </p:cNvPr>
          <p:cNvSpPr>
            <a:spLocks noGrp="1"/>
          </p:cNvSpPr>
          <p:nvPr/>
        </p:nvSpPr>
        <p:spPr>
          <a:xfrm>
            <a:off x="4495800" y="1924050"/>
            <a:ext cx="31813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</a:defRPr>
            </a:pPr>
            <a:r>
              <a:t>Demand varies by weekday, so capacity assumptions should include peak-day patterns.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8F9811-04F7-43EB-95B1-924DF9AA1B43}"/>
              </a:ext>
            </a:extLst>
          </p:cNvPr>
          <p:cNvSpPr>
            <a:spLocks noGrp="1"/>
          </p:cNvSpPr>
          <p:nvPr/>
        </p:nvSpPr>
        <p:spPr>
          <a:xfrm>
            <a:off x="8070850" y="1367790"/>
            <a:ext cx="3606800" cy="1992630"/>
          </a:xfrm>
          <a:prstGeom prst="roundRect">
            <a:avLst>
              <a:gd name="adj" fmla="val 3824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A46B1D-F4EB-4E7E-BE7B-5B7899BC49D0}"/>
              </a:ext>
            </a:extLst>
          </p:cNvPr>
          <p:cNvSpPr>
            <a:spLocks noGrp="1"/>
          </p:cNvSpPr>
          <p:nvPr/>
        </p:nvSpPr>
        <p:spPr>
          <a:xfrm>
            <a:off x="8286750" y="1581150"/>
            <a:ext cx="3181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Service points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FACADF-156A-4D69-871F-4F66AC58C1BF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31813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</a:defRPr>
            </a:pPr>
            <a:r>
              <a:t>Current volume is concentrated: the busiest locations carry much more activity than the long tail.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2D1E192-5434-4303-B61A-F70DE7E35D1E}"/>
              </a:ext>
            </a:extLst>
          </p:cNvPr>
          <p:cNvSpPr>
            <a:spLocks noGrp="1"/>
          </p:cNvSpPr>
          <p:nvPr/>
        </p:nvSpPr>
        <p:spPr>
          <a:xfrm>
            <a:off x="514350" y="3531870"/>
            <a:ext cx="3606800" cy="1992630"/>
          </a:xfrm>
          <a:prstGeom prst="roundRect">
            <a:avLst>
              <a:gd name="adj" fmla="val 3824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926669-586D-46F0-9092-D55CB4E7C5A3}"/>
              </a:ext>
            </a:extLst>
          </p:cNvPr>
          <p:cNvSpPr>
            <a:spLocks noGrp="1"/>
          </p:cNvSpPr>
          <p:nvPr/>
        </p:nvSpPr>
        <p:spPr>
          <a:xfrm>
            <a:off x="723900" y="3733800"/>
            <a:ext cx="3181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Geography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25585-674F-4E03-B5DF-4F8E50792E21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31813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</a:defRPr>
            </a:pPr>
            <a:r>
              <a:t>Main population concentrations are broadly covered, but peripheral access is less uniform.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FC81443-C602-4036-86F8-C4C0F9F54DCB}"/>
              </a:ext>
            </a:extLst>
          </p:cNvPr>
          <p:cNvSpPr>
            <a:spLocks noGrp="1"/>
          </p:cNvSpPr>
          <p:nvPr/>
        </p:nvSpPr>
        <p:spPr>
          <a:xfrm>
            <a:off x="4292600" y="3531870"/>
            <a:ext cx="3606800" cy="1992630"/>
          </a:xfrm>
          <a:prstGeom prst="roundRect">
            <a:avLst>
              <a:gd name="adj" fmla="val 3824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D37495-22B9-447F-83DA-2C4E479AE1AA}"/>
              </a:ext>
            </a:extLst>
          </p:cNvPr>
          <p:cNvSpPr>
            <a:spLocks noGrp="1"/>
          </p:cNvSpPr>
          <p:nvPr/>
        </p:nvSpPr>
        <p:spPr>
          <a:xfrm>
            <a:off x="4495800" y="3733800"/>
            <a:ext cx="3181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Distance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01DBD6-73B4-493A-8F4F-7ED2A2F9E98B}"/>
              </a:ext>
            </a:extLst>
          </p:cNvPr>
          <p:cNvSpPr>
            <a:spLocks noGrp="1"/>
          </p:cNvSpPr>
          <p:nvPr/>
        </p:nvSpPr>
        <p:spPr>
          <a:xfrm>
            <a:off x="4495800" y="4095750"/>
            <a:ext cx="31813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</a:defRPr>
            </a:pPr>
            <a:r>
              <a:t>Most high-population CBS squares are within 1 km; distance remains key for pickup probability.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DCD0446-063F-4A76-A391-03BF455C324F}"/>
              </a:ext>
            </a:extLst>
          </p:cNvPr>
          <p:cNvSpPr>
            <a:spLocks noGrp="1"/>
          </p:cNvSpPr>
          <p:nvPr/>
        </p:nvSpPr>
        <p:spPr>
          <a:xfrm>
            <a:off x="8070850" y="3531870"/>
            <a:ext cx="3606800" cy="1992630"/>
          </a:xfrm>
          <a:prstGeom prst="roundRect">
            <a:avLst>
              <a:gd name="adj" fmla="val 3824"/>
            </a:avLst>
          </a:prstGeom>
          <a:solidFill>
            <a:srgbClr val="FFFFFF"/>
          </a:solidFill>
        </p:spPr>
        <p:txBody>
          <a:bodyPr/>
          <a:lstStyle/>
          <a:p>
            <a:endParaRPr lang="en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DE50D5-6878-4335-836D-CD68143B3CF8}"/>
              </a:ext>
            </a:extLst>
          </p:cNvPr>
          <p:cNvSpPr>
            <a:spLocks noGrp="1"/>
          </p:cNvSpPr>
          <p:nvPr/>
        </p:nvSpPr>
        <p:spPr>
          <a:xfrm>
            <a:off x="8286750" y="3733800"/>
            <a:ext cx="3181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7191C"/>
                </a:solidFill>
              </a:defRPr>
            </a:pPr>
            <a:r>
              <a:t>Business impact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E0CEEA-E575-4D4E-A801-965BF2464FC2}"/>
              </a:ext>
            </a:extLst>
          </p:cNvPr>
          <p:cNvSpPr>
            <a:spLocks noGrp="1"/>
          </p:cNvSpPr>
          <p:nvPr/>
        </p:nvSpPr>
        <p:spPr>
          <a:xfrm>
            <a:off x="8286750" y="4095750"/>
            <a:ext cx="31813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172033"/>
                </a:solidFill>
              </a:defRPr>
            </a:pPr>
            <a:r>
              <a:t>Cost and capacity pressure should be evaluated per service point, not only city-wide.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0405004-9C25-4C74-9F3D-04D55833FDE1}"/>
              </a:ext>
            </a:extLst>
          </p:cNvPr>
          <p:cNvSpPr>
            <a:spLocks noGrp="1"/>
          </p:cNvSpPr>
          <p:nvPr/>
        </p:nvSpPr>
        <p:spPr>
          <a:xfrm>
            <a:off x="514350" y="5695950"/>
            <a:ext cx="11163300" cy="7620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</p:spPr>
        <p:txBody>
          <a:bodyPr/>
          <a:lstStyle/>
          <a:p>
            <a:endParaRPr lang="en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E3BBBA-3C9A-403D-AE26-3417F8A1DB90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107442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Next step: convert EDA outputs into a shared optimization objective and compare solution methods on the same cost, distance, capacity and bounce metrics.</a:t>
            </a:r>
          </a:p>
        </p:txBody>
      </p:sp>
    </p:spTree>
    <p:extLst>
      <p:ext uri="{BB962C8B-B14F-4D97-AF65-F5344CB8AC3E}">
        <p14:creationId xmlns:p14="http://schemas.microsoft.com/office/powerpoint/2010/main" val="3568863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5731D6-459C-41D4-9D0C-78DC83F5998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fd4588c-3a18-4eb2-a99c-44c6edd91a3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1636</Words>
  <Application>Microsoft Macintosh PowerPoint</Application>
  <PresentationFormat>Widescreen</PresentationFormat>
  <Paragraphs>250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Leushina, Elizaveta (Stud. SBE)</cp:lastModifiedBy>
  <cp:revision>1</cp:revision>
  <dcterms:created xsi:type="dcterms:W3CDTF">2026-05-25T16:18:06Z</dcterms:created>
  <dcterms:modified xsi:type="dcterms:W3CDTF">2026-05-26T00:19:50Z</dcterms:modified>
</cp:coreProperties>
</file>